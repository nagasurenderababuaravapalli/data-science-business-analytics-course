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1" r:id="rId2"/>
    <p:sldId id="263" r:id="rId3"/>
    <p:sldId id="274" r:id="rId4"/>
    <p:sldId id="275" r:id="rId5"/>
    <p:sldId id="276" r:id="rId6"/>
    <p:sldId id="277" r:id="rId7"/>
    <p:sldId id="278" r:id="rId8"/>
    <p:sldId id="265" r:id="rId9"/>
    <p:sldId id="279" r:id="rId10"/>
    <p:sldId id="273" r:id="rId11"/>
    <p:sldId id="27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1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6FC1"/>
    <a:srgbClr val="A2A4A4"/>
    <a:srgbClr val="5999D3"/>
    <a:srgbClr val="254175"/>
    <a:srgbClr val="6D6868"/>
    <a:srgbClr val="005296"/>
    <a:srgbClr val="014D8E"/>
    <a:srgbClr val="00589F"/>
    <a:srgbClr val="005FA8"/>
    <a:srgbClr val="005A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70"/>
    <p:restoredTop sz="96208"/>
  </p:normalViewPr>
  <p:slideViewPr>
    <p:cSldViewPr snapToGrid="0" snapToObjects="1" showGuides="1">
      <p:cViewPr varScale="1">
        <p:scale>
          <a:sx n="79" d="100"/>
          <a:sy n="79" d="100"/>
        </p:scale>
        <p:origin x="557" y="72"/>
      </p:cViewPr>
      <p:guideLst>
        <p:guide orient="horz" pos="3748"/>
        <p:guide pos="1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896B-F54D-CB4E-8E1F-E922CD2678B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B9CB30-EEA7-6C48-BA49-131675470A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30C9555-C9B4-D94D-A6AC-7000721C11DA}"/>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41E0B8D3-9A29-B64E-B444-0F0A1CB16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5229D4-3156-F845-AAA9-9F4AAF57EA97}"/>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912532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2A24-3BCF-104F-B2B4-808FFA12F3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09C088-CD2E-5547-B2FF-83C53C83431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9CFA407-11D9-5947-BBF3-D9FAD7D347D0}"/>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C8D7F927-7DAC-9341-842B-0FD264B3B9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25873C-CF74-1049-BA6C-9C81E0EE938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933571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1A87C-251F-CB4D-AA3C-16067809D9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D1BE4E9-9A6A-714C-9DDC-E4500738C0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B349ECF-C4D9-6E4A-840B-E852BB7D8AEE}"/>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FEFAB227-288D-904A-95BB-5BE988289E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2B549-73B6-8C4B-B667-111ADF176B0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03341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57E6A-42EF-944F-A701-188B72DAC70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1611A28-F85A-CD49-95B6-8BDD3110BDA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7370336-DDE3-E147-AAC4-D175A5EE413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97FC7F5-0F77-CC4E-A7F3-E09E89CD3354}"/>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6" name="Footer Placeholder 5">
            <a:extLst>
              <a:ext uri="{FF2B5EF4-FFF2-40B4-BE49-F238E27FC236}">
                <a16:creationId xmlns:a16="http://schemas.microsoft.com/office/drawing/2014/main" id="{893B59C2-A178-754D-898A-11EDEB4AD5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372E9B-7AC7-E942-A5A8-7CF1D9F2315B}"/>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3457738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9D4EE-9647-124A-A396-2CD16418360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17BC021-8473-1247-A0A3-6E92389A5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461C68-B174-6F42-A27E-E6DFD2819BF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6A13931-4430-B94E-B071-1A9E67B5CD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3A3A001-AFF5-8242-A49C-787813881EA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2947992-8148-4B4B-88CE-1BD94B6291A2}"/>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8" name="Footer Placeholder 7">
            <a:extLst>
              <a:ext uri="{FF2B5EF4-FFF2-40B4-BE49-F238E27FC236}">
                <a16:creationId xmlns:a16="http://schemas.microsoft.com/office/drawing/2014/main" id="{43778456-4CE9-8E47-A1D5-F506F16D89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1E0FB-33FF-614D-A183-66470F06D6B2}"/>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885467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ACE1-36CE-3A43-83D4-971EE0EFFB0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C14C53A-F68C-C543-B6B1-7918BAF3540B}"/>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4" name="Footer Placeholder 3">
            <a:extLst>
              <a:ext uri="{FF2B5EF4-FFF2-40B4-BE49-F238E27FC236}">
                <a16:creationId xmlns:a16="http://schemas.microsoft.com/office/drawing/2014/main" id="{AA0ACA56-584B-8249-9BAB-AD5093169F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822BB5-F0BF-C94C-BF58-AFC8229696EB}"/>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593622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4B40D476-EEF5-7540-AF03-C95B5E3ABBED}"/>
              </a:ext>
            </a:extLst>
          </p:cNvPr>
          <p:cNvPicPr>
            <a:picLocks noChangeAspect="1"/>
          </p:cNvPicPr>
          <p:nvPr userDrawn="1"/>
        </p:nvPicPr>
        <p:blipFill rotWithShape="1">
          <a:blip r:embed="rId2"/>
          <a:srcRect l="7025" t="16383" r="11065" b="12297"/>
          <a:stretch/>
        </p:blipFill>
        <p:spPr>
          <a:xfrm>
            <a:off x="0" y="0"/>
            <a:ext cx="11328400" cy="6858000"/>
          </a:xfrm>
          <a:prstGeom prst="rect">
            <a:avLst/>
          </a:prstGeom>
        </p:spPr>
      </p:pic>
    </p:spTree>
    <p:extLst>
      <p:ext uri="{BB962C8B-B14F-4D97-AF65-F5344CB8AC3E}">
        <p14:creationId xmlns:p14="http://schemas.microsoft.com/office/powerpoint/2010/main" val="131640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B40D476-EEF5-7540-AF03-C95B5E3ABBED}"/>
              </a:ext>
            </a:extLst>
          </p:cNvPr>
          <p:cNvPicPr>
            <a:picLocks noChangeAspect="1"/>
          </p:cNvPicPr>
          <p:nvPr userDrawn="1"/>
        </p:nvPicPr>
        <p:blipFill rotWithShape="1">
          <a:blip r:embed="rId2"/>
          <a:srcRect l="4619" t="13182" r="3002" b="7575"/>
          <a:stretch/>
        </p:blipFill>
        <p:spPr>
          <a:xfrm>
            <a:off x="0" y="1"/>
            <a:ext cx="12192000" cy="6858000"/>
          </a:xfrm>
          <a:prstGeom prst="rect">
            <a:avLst/>
          </a:prstGeom>
        </p:spPr>
      </p:pic>
    </p:spTree>
    <p:extLst>
      <p:ext uri="{BB962C8B-B14F-4D97-AF65-F5344CB8AC3E}">
        <p14:creationId xmlns:p14="http://schemas.microsoft.com/office/powerpoint/2010/main" val="434342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839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F07356-A34D-4F4D-A489-BAAA1D2552E9}"/>
              </a:ext>
            </a:extLst>
          </p:cNvPr>
          <p:cNvPicPr>
            <a:picLocks noChangeAspect="1"/>
          </p:cNvPicPr>
          <p:nvPr userDrawn="1"/>
        </p:nvPicPr>
        <p:blipFill rotWithShape="1">
          <a:blip r:embed="rId2"/>
          <a:srcRect l="1825" t="12803" r="7288" b="46015"/>
          <a:stretch/>
        </p:blipFill>
        <p:spPr>
          <a:xfrm>
            <a:off x="0" y="0"/>
            <a:ext cx="12192000" cy="3616864"/>
          </a:xfrm>
          <a:prstGeom prst="rect">
            <a:avLst/>
          </a:prstGeom>
        </p:spPr>
      </p:pic>
      <p:pic>
        <p:nvPicPr>
          <p:cNvPr id="24" name="Picture 23">
            <a:extLst>
              <a:ext uri="{FF2B5EF4-FFF2-40B4-BE49-F238E27FC236}">
                <a16:creationId xmlns:a16="http://schemas.microsoft.com/office/drawing/2014/main" id="{1B503D70-FF35-A949-A3D8-E63C868F360C}"/>
              </a:ext>
            </a:extLst>
          </p:cNvPr>
          <p:cNvPicPr>
            <a:picLocks noChangeAspect="1"/>
          </p:cNvPicPr>
          <p:nvPr userDrawn="1"/>
        </p:nvPicPr>
        <p:blipFill rotWithShape="1">
          <a:blip r:embed="rId3"/>
          <a:srcRect l="4686" t="451" r="7375" b="1"/>
          <a:stretch/>
        </p:blipFill>
        <p:spPr>
          <a:xfrm rot="20436793">
            <a:off x="-188402" y="2374729"/>
            <a:ext cx="13432426" cy="5601308"/>
          </a:xfrm>
          <a:custGeom>
            <a:avLst/>
            <a:gdLst>
              <a:gd name="connsiteX0" fmla="*/ 12359125 w 13432426"/>
              <a:gd name="connsiteY0" fmla="*/ 0 h 5601308"/>
              <a:gd name="connsiteX1" fmla="*/ 13432426 w 13432426"/>
              <a:gd name="connsiteY1" fmla="*/ 377691 h 5601308"/>
              <a:gd name="connsiteX2" fmla="*/ 13432426 w 13432426"/>
              <a:gd name="connsiteY2" fmla="*/ 778593 h 5601308"/>
              <a:gd name="connsiteX3" fmla="*/ 11735330 w 13432426"/>
              <a:gd name="connsiteY3" fmla="*/ 5601308 h 5601308"/>
              <a:gd name="connsiteX4" fmla="*/ 9605975 w 13432426"/>
              <a:gd name="connsiteY4" fmla="*/ 5601308 h 5601308"/>
              <a:gd name="connsiteX5" fmla="*/ 0 w 13432426"/>
              <a:gd name="connsiteY5" fmla="*/ 2221001 h 5601308"/>
              <a:gd name="connsiteX6" fmla="*/ 781562 w 13432426"/>
              <a:gd name="connsiteY6" fmla="*/ 0 h 560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2426" h="5601308">
                <a:moveTo>
                  <a:pt x="12359125" y="0"/>
                </a:moveTo>
                <a:lnTo>
                  <a:pt x="13432426" y="377691"/>
                </a:lnTo>
                <a:lnTo>
                  <a:pt x="13432426" y="778593"/>
                </a:lnTo>
                <a:lnTo>
                  <a:pt x="11735330" y="5601308"/>
                </a:lnTo>
                <a:lnTo>
                  <a:pt x="9605975" y="5601308"/>
                </a:lnTo>
                <a:lnTo>
                  <a:pt x="0" y="2221001"/>
                </a:lnTo>
                <a:lnTo>
                  <a:pt x="781562" y="0"/>
                </a:lnTo>
                <a:close/>
              </a:path>
            </a:pathLst>
          </a:custGeom>
        </p:spPr>
      </p:pic>
    </p:spTree>
    <p:extLst>
      <p:ext uri="{BB962C8B-B14F-4D97-AF65-F5344CB8AC3E}">
        <p14:creationId xmlns:p14="http://schemas.microsoft.com/office/powerpoint/2010/main" val="59360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18BA7AC-F33E-C740-BF8D-F8385FEFA684}"/>
              </a:ext>
            </a:extLst>
          </p:cNvPr>
          <p:cNvPicPr>
            <a:picLocks noChangeAspect="1"/>
          </p:cNvPicPr>
          <p:nvPr userDrawn="1"/>
        </p:nvPicPr>
        <p:blipFill rotWithShape="1">
          <a:blip r:embed="rId2"/>
          <a:srcRect l="7025" t="16383" r="11065" b="12297"/>
          <a:stretch/>
        </p:blipFill>
        <p:spPr>
          <a:xfrm>
            <a:off x="0" y="0"/>
            <a:ext cx="11328400" cy="6858000"/>
          </a:xfrm>
          <a:prstGeom prst="rect">
            <a:avLst/>
          </a:prstGeom>
        </p:spPr>
      </p:pic>
      <p:sp>
        <p:nvSpPr>
          <p:cNvPr id="6" name="Oval 5">
            <a:extLst>
              <a:ext uri="{FF2B5EF4-FFF2-40B4-BE49-F238E27FC236}">
                <a16:creationId xmlns:a16="http://schemas.microsoft.com/office/drawing/2014/main" id="{D2832F23-5F8E-C24A-924C-295E5E3C0658}"/>
              </a:ext>
            </a:extLst>
          </p:cNvPr>
          <p:cNvSpPr/>
          <p:nvPr userDrawn="1"/>
        </p:nvSpPr>
        <p:spPr>
          <a:xfrm>
            <a:off x="10778066" y="5338233"/>
            <a:ext cx="1130300" cy="1130300"/>
          </a:xfrm>
          <a:prstGeom prst="ellipse">
            <a:avLst/>
          </a:prstGeom>
          <a:solidFill>
            <a:schemeClr val="bg1"/>
          </a:solidFill>
          <a:ln>
            <a:noFill/>
          </a:ln>
          <a:effectLst>
            <a:outerShdw blurRad="177800" dist="12700" dir="2580000" sx="104000" sy="104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a sign&#10;&#10;Description automatically generated">
            <a:extLst>
              <a:ext uri="{FF2B5EF4-FFF2-40B4-BE49-F238E27FC236}">
                <a16:creationId xmlns:a16="http://schemas.microsoft.com/office/drawing/2014/main" id="{94B41FC5-8BC2-BB44-AC5B-4D88A0635522}"/>
              </a:ext>
            </a:extLst>
          </p:cNvPr>
          <p:cNvPicPr>
            <a:picLocks noChangeAspect="1"/>
          </p:cNvPicPr>
          <p:nvPr userDrawn="1"/>
        </p:nvPicPr>
        <p:blipFill>
          <a:blip r:embed="rId3"/>
          <a:stretch>
            <a:fillRect/>
          </a:stretch>
        </p:blipFill>
        <p:spPr>
          <a:xfrm>
            <a:off x="10962216" y="5520267"/>
            <a:ext cx="762000" cy="762000"/>
          </a:xfrm>
          <a:prstGeom prst="rect">
            <a:avLst/>
          </a:prstGeom>
        </p:spPr>
      </p:pic>
    </p:spTree>
    <p:extLst>
      <p:ext uri="{BB962C8B-B14F-4D97-AF65-F5344CB8AC3E}">
        <p14:creationId xmlns:p14="http://schemas.microsoft.com/office/powerpoint/2010/main" val="2250643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068E9B-E8B9-FD4D-B2B9-D4F02F0B2B31}"/>
              </a:ext>
            </a:extLst>
          </p:cNvPr>
          <p:cNvSpPr/>
          <p:nvPr userDrawn="1"/>
        </p:nvSpPr>
        <p:spPr>
          <a:xfrm>
            <a:off x="11328400" y="0"/>
            <a:ext cx="863600" cy="6858000"/>
          </a:xfrm>
          <a:prstGeom prst="rect">
            <a:avLst/>
          </a:prstGeom>
          <a:gradFill>
            <a:gsLst>
              <a:gs pos="37000">
                <a:srgbClr val="0070C0"/>
              </a:gs>
              <a:gs pos="100000">
                <a:srgbClr val="00B0F0"/>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2832F23-5F8E-C24A-924C-295E5E3C0658}"/>
              </a:ext>
            </a:extLst>
          </p:cNvPr>
          <p:cNvSpPr/>
          <p:nvPr userDrawn="1"/>
        </p:nvSpPr>
        <p:spPr>
          <a:xfrm>
            <a:off x="10778066" y="5338233"/>
            <a:ext cx="1130300" cy="1130300"/>
          </a:xfrm>
          <a:prstGeom prst="ellipse">
            <a:avLst/>
          </a:prstGeom>
          <a:solidFill>
            <a:schemeClr val="bg1"/>
          </a:solidFill>
          <a:ln>
            <a:noFill/>
          </a:ln>
          <a:effectLst>
            <a:outerShdw blurRad="177800" dist="12700" dir="2580000" sx="104000" sy="104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close up of a sign&#10;&#10;Description automatically generated">
            <a:extLst>
              <a:ext uri="{FF2B5EF4-FFF2-40B4-BE49-F238E27FC236}">
                <a16:creationId xmlns:a16="http://schemas.microsoft.com/office/drawing/2014/main" id="{94B41FC5-8BC2-BB44-AC5B-4D88A0635522}"/>
              </a:ext>
            </a:extLst>
          </p:cNvPr>
          <p:cNvPicPr>
            <a:picLocks noChangeAspect="1"/>
          </p:cNvPicPr>
          <p:nvPr userDrawn="1"/>
        </p:nvPicPr>
        <p:blipFill>
          <a:blip r:embed="rId2"/>
          <a:stretch>
            <a:fillRect/>
          </a:stretch>
        </p:blipFill>
        <p:spPr>
          <a:xfrm>
            <a:off x="10962216" y="5520267"/>
            <a:ext cx="762000" cy="762000"/>
          </a:xfrm>
          <a:prstGeom prst="rect">
            <a:avLst/>
          </a:prstGeom>
        </p:spPr>
      </p:pic>
    </p:spTree>
    <p:extLst>
      <p:ext uri="{BB962C8B-B14F-4D97-AF65-F5344CB8AC3E}">
        <p14:creationId xmlns:p14="http://schemas.microsoft.com/office/powerpoint/2010/main" val="2776564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1018-2976-AA49-A740-DDC5D6D70D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DD3960F-3B9D-134F-920F-56EC4DE58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899E991-8828-2049-9393-950FD703A1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ED5707-B915-DA47-9178-0C1ABADB0FD6}"/>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6" name="Footer Placeholder 5">
            <a:extLst>
              <a:ext uri="{FF2B5EF4-FFF2-40B4-BE49-F238E27FC236}">
                <a16:creationId xmlns:a16="http://schemas.microsoft.com/office/drawing/2014/main" id="{D564392B-A7E4-D143-BD60-F9538421A8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351E37-109A-B343-B780-F7233ACAF45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333701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22277-4EFA-E743-8BB3-E6C403E6667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F2D57E5-3218-D44D-89DB-D869107F77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0F2D83-EAB4-CA44-A7F7-C18A4A715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85B392-C1F3-764E-9AA3-457044F124D7}"/>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6" name="Footer Placeholder 5">
            <a:extLst>
              <a:ext uri="{FF2B5EF4-FFF2-40B4-BE49-F238E27FC236}">
                <a16:creationId xmlns:a16="http://schemas.microsoft.com/office/drawing/2014/main" id="{8354A54A-FF07-7C48-999A-67D71B4B08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8022A-1337-0B44-AEA8-E4615BE3D78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262295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3C27-9C65-3E45-873D-7188A5407D8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8668386-7936-D842-93AB-FC92510A5CF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7951898-E20A-7241-B4F6-77B54730E075}"/>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B1C5934C-A9FF-B24C-8179-DD4A08F83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2683F-F7E4-5848-A263-3A612EE69924}"/>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320588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D2FD4F-C622-364D-BAB7-1FCE29216DF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006E67C-1202-244C-8382-954898328A9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755452-BB22-FC4D-B6DC-D4C0270D6C42}"/>
              </a:ext>
            </a:extLst>
          </p:cNvPr>
          <p:cNvSpPr>
            <a:spLocks noGrp="1"/>
          </p:cNvSpPr>
          <p:nvPr>
            <p:ph type="dt" sz="half" idx="10"/>
          </p:nvPr>
        </p:nvSpPr>
        <p:spPr/>
        <p:txBody>
          <a:body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265DABA5-026E-9641-AAB0-00A2093D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273DA-7F7F-9343-A113-D4F5DF98BB6C}"/>
              </a:ext>
            </a:extLst>
          </p:cNvPr>
          <p:cNvSpPr>
            <a:spLocks noGrp="1"/>
          </p:cNvSpPr>
          <p:nvPr>
            <p:ph type="sldNum" sz="quarter" idx="12"/>
          </p:nvPr>
        </p:nvSpPr>
        <p:spPr/>
        <p:txBody>
          <a:bodyPr/>
          <a:lstStyle/>
          <a:p>
            <a:fld id="{E14FFDC9-3D54-674E-86E0-9C3C86728DA7}" type="slidenum">
              <a:rPr lang="en-US" smtClean="0"/>
              <a:t>‹#›</a:t>
            </a:fld>
            <a:endParaRPr lang="en-US"/>
          </a:p>
        </p:txBody>
      </p:sp>
    </p:spTree>
    <p:extLst>
      <p:ext uri="{BB962C8B-B14F-4D97-AF65-F5344CB8AC3E}">
        <p14:creationId xmlns:p14="http://schemas.microsoft.com/office/powerpoint/2010/main" val="111016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80D5B3-FA64-FD40-A370-F37EF9C6C7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2717060-FA86-7942-99EC-88B397F155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9D0105-0DFD-3F40-AA87-1642704DF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2BF8E-211B-9C43-825C-0671E50D7E39}" type="datetimeFigureOut">
              <a:rPr lang="en-US" smtClean="0"/>
              <a:t>5/30/2025</a:t>
            </a:fld>
            <a:endParaRPr lang="en-US"/>
          </a:p>
        </p:txBody>
      </p:sp>
      <p:sp>
        <p:nvSpPr>
          <p:cNvPr id="5" name="Footer Placeholder 4">
            <a:extLst>
              <a:ext uri="{FF2B5EF4-FFF2-40B4-BE49-F238E27FC236}">
                <a16:creationId xmlns:a16="http://schemas.microsoft.com/office/drawing/2014/main" id="{DF93CF04-95E7-7144-8A2B-1D7ADE9274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B88691-866E-CF46-9919-541469EDC6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4FFDC9-3D54-674E-86E0-9C3C86728DA7}" type="slidenum">
              <a:rPr lang="en-US" smtClean="0"/>
              <a:t>‹#›</a:t>
            </a:fld>
            <a:endParaRPr lang="en-US"/>
          </a:p>
        </p:txBody>
      </p:sp>
    </p:spTree>
    <p:extLst>
      <p:ext uri="{BB962C8B-B14F-4D97-AF65-F5344CB8AC3E}">
        <p14:creationId xmlns:p14="http://schemas.microsoft.com/office/powerpoint/2010/main" val="3197359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7" r:id="rId8"/>
    <p:sldLayoutId id="2147483673" r:id="rId9"/>
    <p:sldLayoutId id="2147483675" r:id="rId10"/>
    <p:sldLayoutId id="2147483674" r:id="rId11"/>
    <p:sldLayoutId id="2147483676" r:id="rId12"/>
    <p:sldLayoutId id="2147483668" r:id="rId13"/>
    <p:sldLayoutId id="2147483669" r:id="rId14"/>
    <p:sldLayoutId id="2147483670" r:id="rId15"/>
    <p:sldLayoutId id="2147483671"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8621ED-814E-F441-93A2-B7DC230A79A3}"/>
              </a:ext>
            </a:extLst>
          </p:cNvPr>
          <p:cNvPicPr>
            <a:picLocks noChangeAspect="1"/>
          </p:cNvPicPr>
          <p:nvPr/>
        </p:nvPicPr>
        <p:blipFill>
          <a:blip r:embed="rId2"/>
          <a:stretch>
            <a:fillRect/>
          </a:stretch>
        </p:blipFill>
        <p:spPr>
          <a:xfrm>
            <a:off x="179119" y="595020"/>
            <a:ext cx="3021463" cy="590312"/>
          </a:xfrm>
          <a:prstGeom prst="rect">
            <a:avLst/>
          </a:prstGeom>
        </p:spPr>
      </p:pic>
      <p:sp>
        <p:nvSpPr>
          <p:cNvPr id="2" name="TextBox 1">
            <a:extLst>
              <a:ext uri="{FF2B5EF4-FFF2-40B4-BE49-F238E27FC236}">
                <a16:creationId xmlns:a16="http://schemas.microsoft.com/office/drawing/2014/main" id="{DF890AA6-3288-7A41-9F48-31D099259D5C}"/>
              </a:ext>
            </a:extLst>
          </p:cNvPr>
          <p:cNvSpPr txBox="1"/>
          <p:nvPr/>
        </p:nvSpPr>
        <p:spPr>
          <a:xfrm>
            <a:off x="282105" y="2367874"/>
            <a:ext cx="7778162" cy="907941"/>
          </a:xfrm>
          <a:prstGeom prst="rect">
            <a:avLst/>
          </a:prstGeom>
          <a:noFill/>
        </p:spPr>
        <p:txBody>
          <a:bodyPr wrap="square" rtlCol="0">
            <a:spAutoFit/>
          </a:bodyPr>
          <a:lstStyle/>
          <a:p>
            <a:r>
              <a:rPr lang="en-US" sz="5300" b="1" dirty="0">
                <a:solidFill>
                  <a:srgbClr val="0070C0"/>
                </a:solidFill>
                <a:latin typeface="Arial" panose="020B0604020202020204" pitchFamily="34" charset="0"/>
                <a:cs typeface="Arial" panose="020B0604020202020204" pitchFamily="34" charset="0"/>
              </a:rPr>
              <a:t>Salary Prediction</a:t>
            </a:r>
          </a:p>
        </p:txBody>
      </p:sp>
      <p:sp>
        <p:nvSpPr>
          <p:cNvPr id="3" name="TextBox 2">
            <a:extLst>
              <a:ext uri="{FF2B5EF4-FFF2-40B4-BE49-F238E27FC236}">
                <a16:creationId xmlns:a16="http://schemas.microsoft.com/office/drawing/2014/main" id="{5A740E41-0F8D-4151-979A-4270FBA95E57}"/>
              </a:ext>
            </a:extLst>
          </p:cNvPr>
          <p:cNvSpPr txBox="1"/>
          <p:nvPr/>
        </p:nvSpPr>
        <p:spPr>
          <a:xfrm>
            <a:off x="689316" y="3429000"/>
            <a:ext cx="4881489" cy="707886"/>
          </a:xfrm>
          <a:prstGeom prst="rect">
            <a:avLst/>
          </a:prstGeom>
          <a:noFill/>
        </p:spPr>
        <p:txBody>
          <a:bodyPr wrap="square" rtlCol="0">
            <a:spAutoFit/>
          </a:bodyPr>
          <a:lstStyle/>
          <a:p>
            <a:pPr marL="25400" indent="0" algn="just"/>
            <a:r>
              <a:rPr lang="en-IN" sz="2000" b="1" dirty="0">
                <a:solidFill>
                  <a:srgbClr val="00B050"/>
                </a:solidFill>
              </a:rPr>
              <a:t>Prepared by :</a:t>
            </a:r>
          </a:p>
          <a:p>
            <a:pPr marL="482600" indent="-457200" algn="just">
              <a:buFont typeface="Arial" panose="020B0604020202020204" pitchFamily="34" charset="0"/>
              <a:buChar char="•"/>
            </a:pPr>
            <a:r>
              <a:rPr lang="en-IN" sz="2000" b="1" dirty="0">
                <a:solidFill>
                  <a:srgbClr val="00B050"/>
                </a:solidFill>
              </a:rPr>
              <a:t>Naga </a:t>
            </a:r>
            <a:r>
              <a:rPr lang="en-IN" sz="2000" b="1" dirty="0" err="1">
                <a:solidFill>
                  <a:srgbClr val="00B050"/>
                </a:solidFill>
              </a:rPr>
              <a:t>Surendera</a:t>
            </a:r>
            <a:r>
              <a:rPr lang="en-IN" sz="2000" b="1" dirty="0">
                <a:solidFill>
                  <a:srgbClr val="00B050"/>
                </a:solidFill>
              </a:rPr>
              <a:t> </a:t>
            </a:r>
            <a:r>
              <a:rPr lang="en-IN" sz="2000" b="1" dirty="0" err="1">
                <a:solidFill>
                  <a:srgbClr val="00B050"/>
                </a:solidFill>
              </a:rPr>
              <a:t>Babu.Aravapalli</a:t>
            </a:r>
            <a:endParaRPr lang="en-IN" sz="2000" b="1" dirty="0">
              <a:solidFill>
                <a:srgbClr val="00B050"/>
              </a:solidFill>
            </a:endParaRPr>
          </a:p>
        </p:txBody>
      </p:sp>
    </p:spTree>
    <p:extLst>
      <p:ext uri="{BB962C8B-B14F-4D97-AF65-F5344CB8AC3E}">
        <p14:creationId xmlns:p14="http://schemas.microsoft.com/office/powerpoint/2010/main" val="3252274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1315328" y="347645"/>
            <a:ext cx="9327879"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Business Problem Understanding</a:t>
            </a:r>
          </a:p>
        </p:txBody>
      </p:sp>
      <p:sp>
        <p:nvSpPr>
          <p:cNvPr id="7" name="TextBox 6">
            <a:extLst>
              <a:ext uri="{FF2B5EF4-FFF2-40B4-BE49-F238E27FC236}">
                <a16:creationId xmlns:a16="http://schemas.microsoft.com/office/drawing/2014/main" id="{A84B8933-F44C-374A-B677-D79AD8184284}"/>
              </a:ext>
            </a:extLst>
          </p:cNvPr>
          <p:cNvSpPr txBox="1"/>
          <p:nvPr/>
        </p:nvSpPr>
        <p:spPr>
          <a:xfrm>
            <a:off x="351074" y="1055531"/>
            <a:ext cx="10073466" cy="5084533"/>
          </a:xfrm>
          <a:prstGeom prst="rect">
            <a:avLst/>
          </a:prstGeom>
          <a:noFill/>
        </p:spPr>
        <p:txBody>
          <a:bodyPr wrap="square" rtlCol="0">
            <a:spAutoFit/>
          </a:bodyPr>
          <a:lstStyle/>
          <a:p>
            <a:pPr marL="25400" indent="0">
              <a:lnSpc>
                <a:spcPct val="150000"/>
              </a:lnSpc>
              <a:buNone/>
            </a:pPr>
            <a:r>
              <a:rPr lang="en-US" sz="1600" b="1" dirty="0">
                <a:solidFill>
                  <a:srgbClr val="00B050"/>
                </a:solidFill>
                <a:latin typeface="Arial" panose="020B0604020202020204" pitchFamily="34" charset="0"/>
                <a:ea typeface="Tahoma" panose="020B0604030504040204" pitchFamily="34" charset="0"/>
                <a:cs typeface="Arial" panose="020B0604020202020204" pitchFamily="34" charset="0"/>
              </a:rPr>
              <a:t>Problem Statement: -</a:t>
            </a:r>
          </a:p>
          <a:p>
            <a:pPr marL="25400" indent="0">
              <a:lnSpc>
                <a:spcPct val="150000"/>
              </a:lnSpc>
              <a:buNone/>
            </a:pPr>
            <a:r>
              <a:rPr lang="en-US" sz="1400" dirty="0">
                <a:latin typeface="Arial" panose="020B0604020202020204" pitchFamily="34" charset="0"/>
                <a:ea typeface="Tahoma" panose="020B0604030504040204" pitchFamily="34" charset="0"/>
                <a:cs typeface="Arial" panose="020B0604020202020204" pitchFamily="34" charset="0"/>
              </a:rPr>
              <a:t>Delta Ltd. is committed to offer same salary among the employees with similar profiles. Currently, salary offers are influenced by subjective judgment during interviews, more inconsistency and potential bias. The Human Resources (HR) department needs a data-driven solution to determine appropriate salary ranges with consistent salary offers based on objective.</a:t>
            </a:r>
            <a:endParaRPr lang="en-IN" sz="1400" dirty="0">
              <a:latin typeface="Arial" panose="020B0604020202020204" pitchFamily="34" charset="0"/>
              <a:ea typeface="Tahoma" panose="020B0604030504040204" pitchFamily="34" charset="0"/>
              <a:cs typeface="Arial" panose="020B0604020202020204" pitchFamily="34" charset="0"/>
            </a:endParaRPr>
          </a:p>
          <a:p>
            <a:pPr marL="25400" indent="0">
              <a:lnSpc>
                <a:spcPct val="150000"/>
              </a:lnSpc>
              <a:buNone/>
            </a:pPr>
            <a:r>
              <a:rPr lang="en-US" sz="1600" b="1" dirty="0">
                <a:solidFill>
                  <a:srgbClr val="00B050"/>
                </a:solidFill>
                <a:latin typeface="Arial" panose="020B0604020202020204" pitchFamily="34" charset="0"/>
                <a:ea typeface="Tahoma" panose="020B0604030504040204" pitchFamily="34" charset="0"/>
                <a:cs typeface="Arial" panose="020B0604020202020204" pitchFamily="34" charset="0"/>
              </a:rPr>
              <a:t>Constraints: -</a:t>
            </a:r>
            <a:r>
              <a:rPr lang="en-US" sz="1600" dirty="0">
                <a:solidFill>
                  <a:srgbClr val="00B050"/>
                </a:solidFill>
                <a:latin typeface="Arial" panose="020B0604020202020204" pitchFamily="34" charset="0"/>
                <a:ea typeface="Tahoma" panose="020B0604030504040204" pitchFamily="34" charset="0"/>
                <a:cs typeface="Arial" panose="020B0604020202020204" pitchFamily="34" charset="0"/>
              </a:rPr>
              <a:t> </a:t>
            </a:r>
            <a:r>
              <a:rPr lang="en-US" sz="1400" dirty="0">
                <a:latin typeface="Arial" panose="020B0604020202020204" pitchFamily="34" charset="0"/>
                <a:ea typeface="Tahoma" panose="020B0604030504040204" pitchFamily="34" charset="0"/>
                <a:cs typeface="Arial" panose="020B0604020202020204" pitchFamily="34" charset="0"/>
              </a:rPr>
              <a:t>Limited availability or quality of historical data for certain roles or departments. Biases already present in historical data may affect model fairness and need mitigation. The model must comply with company policies and labor laws on equal pay and anti- discrimination. Regular monitoring and retraining of the model will be required to reflect market changes and ensure long-term fairness.</a:t>
            </a:r>
            <a:endParaRPr lang="en-IN" sz="1400" dirty="0">
              <a:latin typeface="Arial" panose="020B0604020202020204" pitchFamily="34" charset="0"/>
              <a:ea typeface="Tahoma" panose="020B0604030504040204" pitchFamily="34" charset="0"/>
              <a:cs typeface="Arial" panose="020B0604020202020204" pitchFamily="34" charset="0"/>
            </a:endParaRPr>
          </a:p>
          <a:p>
            <a:pPr marL="25400" indent="0">
              <a:lnSpc>
                <a:spcPct val="150000"/>
              </a:lnSpc>
              <a:buNone/>
            </a:pPr>
            <a:r>
              <a:rPr lang="en-IN" sz="1600" b="1" dirty="0">
                <a:solidFill>
                  <a:srgbClr val="00B050"/>
                </a:solidFill>
                <a:latin typeface="Arial" panose="020B0604020202020204" pitchFamily="34" charset="0"/>
                <a:ea typeface="Tahoma" panose="020B0604030504040204" pitchFamily="34" charset="0"/>
                <a:cs typeface="Arial" panose="020B0604020202020204" pitchFamily="34" charset="0"/>
              </a:rPr>
              <a:t>Scope: -</a:t>
            </a:r>
            <a:r>
              <a:rPr lang="en-IN" sz="1600" dirty="0">
                <a:solidFill>
                  <a:srgbClr val="00B050"/>
                </a:solidFill>
                <a:latin typeface="Arial" panose="020B0604020202020204" pitchFamily="34" charset="0"/>
                <a:ea typeface="Tahoma" panose="020B0604030504040204" pitchFamily="34" charset="0"/>
                <a:cs typeface="Arial" panose="020B0604020202020204" pitchFamily="34" charset="0"/>
              </a:rPr>
              <a:t> </a:t>
            </a:r>
            <a:r>
              <a:rPr lang="en-US" sz="1400" dirty="0">
                <a:latin typeface="Arial" panose="020B0604020202020204" pitchFamily="34" charset="0"/>
                <a:ea typeface="Tahoma" panose="020B0604030504040204" pitchFamily="34" charset="0"/>
                <a:cs typeface="Arial" panose="020B0604020202020204" pitchFamily="34" charset="0"/>
              </a:rPr>
              <a:t>The model will use historical recruitment data including: Academic qualifications, Years of experience, Publications and certifications, ratings of previous employment. The solution will be applied to all new candidates applying to Delta Ltd. The system will integrate with HR tools to suggest salary offers during the final stages of the hiring process.</a:t>
            </a:r>
            <a:endParaRPr lang="en-IN" sz="1400" dirty="0">
              <a:latin typeface="Arial" panose="020B0604020202020204" pitchFamily="34" charset="0"/>
              <a:ea typeface="Tahoma" panose="020B0604030504040204" pitchFamily="34" charset="0"/>
              <a:cs typeface="Arial" panose="020B0604020202020204" pitchFamily="34" charset="0"/>
            </a:endParaRPr>
          </a:p>
          <a:p>
            <a:pPr marL="25400" indent="0">
              <a:lnSpc>
                <a:spcPct val="150000"/>
              </a:lnSpc>
              <a:buNone/>
            </a:pPr>
            <a:r>
              <a:rPr lang="en-IN" sz="1600" b="1" dirty="0">
                <a:solidFill>
                  <a:srgbClr val="00B050"/>
                </a:solidFill>
                <a:latin typeface="Arial" panose="020B0604020202020204" pitchFamily="34" charset="0"/>
                <a:ea typeface="Tahoma" panose="020B0604030504040204" pitchFamily="34" charset="0"/>
                <a:cs typeface="Arial" panose="020B0604020202020204" pitchFamily="34" charset="0"/>
              </a:rPr>
              <a:t>Objectives: -</a:t>
            </a:r>
            <a:r>
              <a:rPr lang="en-IN" sz="1600" dirty="0">
                <a:solidFill>
                  <a:srgbClr val="00B050"/>
                </a:solidFill>
                <a:latin typeface="Arial" panose="020B0604020202020204" pitchFamily="34" charset="0"/>
                <a:ea typeface="Tahoma" panose="020B0604030504040204" pitchFamily="34" charset="0"/>
                <a:cs typeface="Arial" panose="020B0604020202020204" pitchFamily="34" charset="0"/>
              </a:rPr>
              <a:t> </a:t>
            </a:r>
            <a:r>
              <a:rPr lang="en-US" sz="1400" dirty="0">
                <a:latin typeface="Arial" panose="020B0604020202020204" pitchFamily="34" charset="0"/>
                <a:ea typeface="Tahoma" panose="020B0604030504040204" pitchFamily="34" charset="0"/>
                <a:cs typeface="Arial" panose="020B0604020202020204" pitchFamily="34" charset="0"/>
              </a:rPr>
              <a:t>Build a predictive model using historical employee data to determine fair salary offers automatically. Reduce human subjectivity in salary decisions during the hiring process. Ensure salary consistency and fairness across similar candidate profiles. Support HR in creating standardized salary bands based on quantifiable metrics like education, experience, technical skills, and performance in interviews.</a:t>
            </a:r>
            <a:endParaRPr lang="en-IN" sz="1400" dirty="0">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95403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F176FF-E291-B214-739A-CE21EE96291A}"/>
              </a:ext>
            </a:extLst>
          </p:cNvPr>
          <p:cNvSpPr txBox="1"/>
          <p:nvPr/>
        </p:nvSpPr>
        <p:spPr>
          <a:xfrm>
            <a:off x="289560" y="400735"/>
            <a:ext cx="10340340" cy="4124206"/>
          </a:xfrm>
          <a:prstGeom prst="rect">
            <a:avLst/>
          </a:prstGeom>
          <a:noFill/>
        </p:spPr>
        <p:txBody>
          <a:bodyPr wrap="square">
            <a:spAutoFit/>
          </a:bodyPr>
          <a:lstStyle/>
          <a:p>
            <a:pPr marL="25400" indent="0">
              <a:buNone/>
            </a:pPr>
            <a:r>
              <a:rPr lang="en-IN" sz="2800" b="1" dirty="0">
                <a:solidFill>
                  <a:srgbClr val="0070C0"/>
                </a:solidFill>
                <a:latin typeface="Arial" panose="020B0604020202020204" pitchFamily="34" charset="0"/>
                <a:cs typeface="Arial" panose="020B0604020202020204" pitchFamily="34" charset="0"/>
              </a:rPr>
              <a:t>Data Overview: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 data set has 29 columns and 25000 rows. It contains different types of attributes like int64, object and float64.</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It has no duplicate entries in the data.</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It has some missing values like no values under the experience column so it has replaced by “Fresher” and few of them updated as unknown  according to the situation.</a:t>
            </a:r>
          </a:p>
          <a:p>
            <a:pPr marL="25400" indent="0">
              <a:buNone/>
            </a:pPr>
            <a:endParaRPr lang="en-IN" sz="1400" b="1" dirty="0">
              <a:latin typeface="Arial" panose="020B0604020202020204" pitchFamily="34" charset="0"/>
              <a:cs typeface="Arial" panose="020B0604020202020204" pitchFamily="34" charset="0"/>
            </a:endParaRPr>
          </a:p>
          <a:p>
            <a:pPr marL="25400" indent="0">
              <a:buNone/>
            </a:pPr>
            <a:r>
              <a:rPr lang="en-IN" sz="1600" b="1" dirty="0">
                <a:solidFill>
                  <a:srgbClr val="00B050"/>
                </a:solidFill>
                <a:latin typeface="Arial" panose="020B0604020202020204" pitchFamily="34" charset="0"/>
                <a:cs typeface="Arial" panose="020B0604020202020204" pitchFamily="34" charset="0"/>
              </a:rPr>
              <a:t>Statistical summary: -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 maximum expected </a:t>
            </a:r>
            <a:r>
              <a:rPr lang="en-IN" sz="1400" dirty="0" err="1">
                <a:latin typeface="Arial" panose="020B0604020202020204" pitchFamily="34" charset="0"/>
                <a:cs typeface="Arial" panose="020B0604020202020204" pitchFamily="34" charset="0"/>
              </a:rPr>
              <a:t>ctc</a:t>
            </a:r>
            <a:r>
              <a:rPr lang="en-IN" sz="1400" dirty="0">
                <a:latin typeface="Arial" panose="020B0604020202020204" pitchFamily="34" charset="0"/>
                <a:cs typeface="Arial" panose="020B0604020202020204" pitchFamily="34" charset="0"/>
              </a:rPr>
              <a:t> is 5599570 and minimum is 203744.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Entries count for respective variables 25000.</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 average total experience is 1.24 years and std. is 7.47.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Inter quartiles displayed in percentages 25, 50, 75.</a:t>
            </a:r>
          </a:p>
          <a:p>
            <a:pPr marL="25400" indent="0">
              <a:buNone/>
            </a:pPr>
            <a:endParaRPr lang="en-IN" sz="1800" dirty="0"/>
          </a:p>
          <a:p>
            <a:pPr marL="25400" indent="0">
              <a:buNone/>
            </a:pPr>
            <a:endParaRPr lang="en-IN" sz="1800" dirty="0"/>
          </a:p>
        </p:txBody>
      </p:sp>
      <p:pic>
        <p:nvPicPr>
          <p:cNvPr id="4" name="Picture 3">
            <a:extLst>
              <a:ext uri="{FF2B5EF4-FFF2-40B4-BE49-F238E27FC236}">
                <a16:creationId xmlns:a16="http://schemas.microsoft.com/office/drawing/2014/main" id="{B23B7BC0-FD3A-D127-6698-EAFEA302B5C2}"/>
              </a:ext>
            </a:extLst>
          </p:cNvPr>
          <p:cNvPicPr>
            <a:picLocks noChangeAspect="1"/>
          </p:cNvPicPr>
          <p:nvPr/>
        </p:nvPicPr>
        <p:blipFill>
          <a:blip r:embed="rId2"/>
          <a:stretch>
            <a:fillRect/>
          </a:stretch>
        </p:blipFill>
        <p:spPr>
          <a:xfrm>
            <a:off x="342900" y="3185160"/>
            <a:ext cx="10119360" cy="32721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9017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1F1A11-DD26-BC11-9E01-CA8537376215}"/>
              </a:ext>
            </a:extLst>
          </p:cNvPr>
          <p:cNvSpPr txBox="1"/>
          <p:nvPr/>
        </p:nvSpPr>
        <p:spPr>
          <a:xfrm>
            <a:off x="289560" y="400735"/>
            <a:ext cx="4922520" cy="6463308"/>
          </a:xfrm>
          <a:prstGeom prst="rect">
            <a:avLst/>
          </a:prstGeom>
          <a:noFill/>
        </p:spPr>
        <p:txBody>
          <a:bodyPr wrap="square">
            <a:spAutoFit/>
          </a:bodyPr>
          <a:lstStyle/>
          <a:p>
            <a:pPr marL="25400" indent="0">
              <a:buNone/>
            </a:pPr>
            <a:r>
              <a:rPr lang="en-IN" sz="2000" b="1" dirty="0">
                <a:solidFill>
                  <a:srgbClr val="0070C0"/>
                </a:solidFill>
                <a:latin typeface="Arial" panose="020B0604020202020204" pitchFamily="34" charset="0"/>
                <a:cs typeface="Arial" panose="020B0604020202020204" pitchFamily="34" charset="0"/>
              </a:rPr>
              <a:t>Exploratory Data Analysis: -</a:t>
            </a:r>
          </a:p>
          <a:p>
            <a:pPr marL="25400" indent="0">
              <a:buNone/>
            </a:pPr>
            <a:r>
              <a:rPr lang="en-IN" sz="1400" dirty="0">
                <a:latin typeface="Arial" panose="020B0604020202020204" pitchFamily="34" charset="0"/>
                <a:cs typeface="Arial" panose="020B0604020202020204" pitchFamily="34" charset="0"/>
              </a:rPr>
              <a:t>It includes Univariate and Bivariate analysis.</a:t>
            </a:r>
          </a:p>
          <a:p>
            <a:pPr marL="25400" indent="0">
              <a:buNone/>
            </a:pPr>
            <a:r>
              <a:rPr lang="en-IN" sz="2000" b="1" dirty="0">
                <a:solidFill>
                  <a:srgbClr val="00B050"/>
                </a:solidFill>
              </a:rPr>
              <a:t>Univariate Analysis: - </a:t>
            </a:r>
          </a:p>
          <a:p>
            <a:pPr marL="25400" indent="0">
              <a:lnSpc>
                <a:spcPct val="150000"/>
              </a:lnSpc>
              <a:buNone/>
            </a:pPr>
            <a:r>
              <a:rPr lang="en-IN" sz="1400" dirty="0">
                <a:latin typeface="Arial" panose="020B0604020202020204" pitchFamily="34" charset="0"/>
                <a:cs typeface="Arial" panose="020B0604020202020204" pitchFamily="34" charset="0"/>
              </a:rPr>
              <a:t>It is an analysis of a single variable to view it's frequency.</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Total Experience – balanced experience</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Experience in Field Applied – More below 5 years </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Current CTC - More in between 0.5 – 2.5 years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No. of Companies worked – More with 2 &amp; 3 companies.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No. of Publications – Less publications are 2 papers.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Certifications – More candidates with 0 count.</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Percentage of Hike – Most expected is 25-30%.</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International degree any - Few Candidates with 1 degree and rest with 0 count.</a:t>
            </a:r>
          </a:p>
          <a:p>
            <a:pPr marL="25400" indent="0">
              <a:buNone/>
            </a:pPr>
            <a:endParaRPr lang="en-IN" sz="1400" dirty="0">
              <a:latin typeface="Arial" panose="020B0604020202020204" pitchFamily="34" charset="0"/>
              <a:cs typeface="Arial" panose="020B0604020202020204" pitchFamily="34" charset="0"/>
            </a:endParaRPr>
          </a:p>
          <a:p>
            <a:pPr marL="25400" indent="0">
              <a:lnSpc>
                <a:spcPct val="150000"/>
              </a:lnSpc>
              <a:buNone/>
            </a:pPr>
            <a:r>
              <a:rPr lang="en-IN" sz="2000" b="1" dirty="0">
                <a:solidFill>
                  <a:srgbClr val="FFC000"/>
                </a:solidFill>
              </a:rPr>
              <a:t>Percentage of Hike distribution: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 candidates expecting the hike percentages on their </a:t>
            </a:r>
            <a:r>
              <a:rPr lang="en-IN" sz="1400" dirty="0" err="1">
                <a:latin typeface="Arial" panose="020B0604020202020204" pitchFamily="34" charset="0"/>
                <a:cs typeface="Arial" panose="020B0604020202020204" pitchFamily="34" charset="0"/>
              </a:rPr>
              <a:t>current_ctc</a:t>
            </a:r>
            <a:r>
              <a:rPr lang="en-IN" sz="1400" dirty="0">
                <a:latin typeface="Arial" panose="020B0604020202020204" pitchFamily="34" charset="0"/>
                <a:cs typeface="Arial" panose="020B0604020202020204" pitchFamily="34" charset="0"/>
              </a:rPr>
              <a:t> are 15, 20, 25, 30, 35 &amp; 40.</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However, remaining are comparatively very less percentages which has low expectations.</a:t>
            </a:r>
          </a:p>
          <a:p>
            <a:pPr marL="25400" indent="0">
              <a:buNone/>
            </a:pPr>
            <a:endParaRPr lang="en-IN" sz="1800" dirty="0"/>
          </a:p>
        </p:txBody>
      </p:sp>
      <p:pic>
        <p:nvPicPr>
          <p:cNvPr id="2050" name="Picture 2">
            <a:extLst>
              <a:ext uri="{FF2B5EF4-FFF2-40B4-BE49-F238E27FC236}">
                <a16:creationId xmlns:a16="http://schemas.microsoft.com/office/drawing/2014/main" id="{C7BBFD7F-C366-D12E-2836-5ABC30EAB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80" y="400735"/>
            <a:ext cx="5363965" cy="39247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E293828-1CB9-B043-4E22-AE91007A52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2560" y="4381500"/>
            <a:ext cx="5333485" cy="2319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556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0E3779-8F54-1641-0264-C14C5A7D3402}"/>
              </a:ext>
            </a:extLst>
          </p:cNvPr>
          <p:cNvSpPr txBox="1"/>
          <p:nvPr/>
        </p:nvSpPr>
        <p:spPr>
          <a:xfrm>
            <a:off x="213360" y="417211"/>
            <a:ext cx="4663440" cy="6401753"/>
          </a:xfrm>
          <a:prstGeom prst="rect">
            <a:avLst/>
          </a:prstGeom>
          <a:noFill/>
        </p:spPr>
        <p:txBody>
          <a:bodyPr wrap="square">
            <a:spAutoFit/>
          </a:bodyPr>
          <a:lstStyle/>
          <a:p>
            <a:pPr marL="25400" indent="0">
              <a:buNone/>
            </a:pPr>
            <a:r>
              <a:rPr lang="en-IN" sz="2000" b="1" dirty="0">
                <a:solidFill>
                  <a:srgbClr val="00B050"/>
                </a:solidFill>
              </a:rPr>
              <a:t>Bivariate Analysis: - </a:t>
            </a:r>
          </a:p>
          <a:p>
            <a:pPr marL="25400" indent="0">
              <a:lnSpc>
                <a:spcPct val="150000"/>
              </a:lnSpc>
              <a:buNone/>
            </a:pPr>
            <a:r>
              <a:rPr lang="en-IN" sz="1400" dirty="0">
                <a:latin typeface="Arial" panose="020B0604020202020204" pitchFamily="34" charset="0"/>
                <a:cs typeface="Arial" panose="020B0604020202020204" pitchFamily="34" charset="0"/>
              </a:rPr>
              <a:t>It is an analysis of two numerical variables to view their correlation.</a:t>
            </a:r>
          </a:p>
          <a:p>
            <a:pPr marL="25400" indent="0">
              <a:buNone/>
            </a:pPr>
            <a:r>
              <a:rPr lang="en-IN" b="1" dirty="0">
                <a:solidFill>
                  <a:srgbClr val="FFC000"/>
                </a:solidFill>
              </a:rPr>
              <a:t>Correlation Coefficient: -</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It is called Pearson correlation coefficient.</a:t>
            </a:r>
          </a:p>
          <a:p>
            <a:pPr marL="3111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Each compensation variable compare with other variables.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At 0.99 it measures a Strong positive correlation where as candidates expecting higher CTC are already receiving more Salaries.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At 0.85 &amp; 0.82_Experienced candidates are looking for more salaries.</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0.65_Strong relationship b/w Total experience vs field experience.</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-0.17 shows a slight negative correlation and suggests </a:t>
            </a:r>
          </a:p>
          <a:p>
            <a:pPr marL="3111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more certifications which do not necessarily lead to higher salary expectations.</a:t>
            </a:r>
            <a:endParaRPr lang="en-IN" sz="1400" dirty="0">
              <a:latin typeface="Arial" panose="020B0604020202020204" pitchFamily="34" charset="0"/>
              <a:cs typeface="Arial" panose="020B0604020202020204" pitchFamily="34" charset="0"/>
            </a:endParaRPr>
          </a:p>
          <a:p>
            <a:pPr marL="25400" indent="0">
              <a:buNone/>
            </a:pPr>
            <a:endParaRPr lang="en-IN" sz="1800" dirty="0"/>
          </a:p>
          <a:p>
            <a:pPr marL="25400" indent="0">
              <a:buNone/>
            </a:pPr>
            <a:endParaRPr lang="en-IN" sz="1800" dirty="0"/>
          </a:p>
        </p:txBody>
      </p:sp>
      <p:pic>
        <p:nvPicPr>
          <p:cNvPr id="3076" name="Picture 4">
            <a:extLst>
              <a:ext uri="{FF2B5EF4-FFF2-40B4-BE49-F238E27FC236}">
                <a16:creationId xmlns:a16="http://schemas.microsoft.com/office/drawing/2014/main" id="{918F515A-E637-A321-29A1-CE861C52D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9744" y="469316"/>
            <a:ext cx="5939243" cy="530891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493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35199-2907-B6AD-7FEB-ABA3F5023C02}"/>
              </a:ext>
            </a:extLst>
          </p:cNvPr>
          <p:cNvSpPr txBox="1"/>
          <p:nvPr/>
        </p:nvSpPr>
        <p:spPr>
          <a:xfrm>
            <a:off x="263525" y="252403"/>
            <a:ext cx="4687854" cy="5971891"/>
          </a:xfrm>
          <a:prstGeom prst="rect">
            <a:avLst/>
          </a:prstGeom>
          <a:noFill/>
        </p:spPr>
        <p:txBody>
          <a:bodyPr wrap="square">
            <a:spAutoFit/>
          </a:bodyPr>
          <a:lstStyle/>
          <a:p>
            <a:pPr marL="25400">
              <a:lnSpc>
                <a:spcPct val="107000"/>
              </a:lnSpc>
            </a:pPr>
            <a:r>
              <a:rPr lang="en-IN" sz="2000" b="1" dirty="0">
                <a:solidFill>
                  <a:srgbClr val="0070C0"/>
                </a:solidFill>
                <a:latin typeface="Arial" panose="020B0604020202020204" pitchFamily="34" charset="0"/>
                <a:cs typeface="Arial" panose="020B0604020202020204" pitchFamily="34" charset="0"/>
              </a:rPr>
              <a:t>Outliers Check: - </a:t>
            </a:r>
          </a:p>
          <a:p>
            <a:pPr marL="25400">
              <a:lnSpc>
                <a:spcPct val="150000"/>
              </a:lnSpc>
            </a:pPr>
            <a:r>
              <a:rPr lang="en-IN" sz="1600" kern="100" dirty="0">
                <a:effectLst/>
                <a:latin typeface="Arial" panose="020B0604020202020204" pitchFamily="34" charset="0"/>
                <a:ea typeface="Calibri" panose="020F0502020204030204" pitchFamily="34" charset="0"/>
                <a:cs typeface="Arial" panose="020B0604020202020204" pitchFamily="34" charset="0"/>
              </a:rPr>
              <a:t>It is an analysis of two numerical variables to view their correlation.</a:t>
            </a:r>
          </a:p>
          <a:p>
            <a:pPr marL="342900" lvl="0" indent="-342900">
              <a:lnSpc>
                <a:spcPct val="150000"/>
              </a:lnSpc>
              <a:buFont typeface="Wingdings" panose="05000000000000000000" pitchFamily="2" charset="2"/>
              <a:buChar char=""/>
            </a:pPr>
            <a:r>
              <a:rPr lang="en-IN" sz="1600" kern="100" dirty="0" err="1">
                <a:effectLst/>
                <a:latin typeface="Arial" panose="020B0604020202020204" pitchFamily="34" charset="0"/>
                <a:ea typeface="Calibri" panose="020F0502020204030204" pitchFamily="34" charset="0"/>
                <a:cs typeface="Arial" panose="020B0604020202020204" pitchFamily="34" charset="0"/>
              </a:rPr>
              <a:t>Total_Experience_in_field_applied</a:t>
            </a:r>
            <a:r>
              <a:rPr lang="en-IN" sz="1600" kern="100" dirty="0">
                <a:effectLst/>
                <a:latin typeface="Arial" panose="020B0604020202020204" pitchFamily="34" charset="0"/>
                <a:ea typeface="Calibri" panose="020F0502020204030204" pitchFamily="34" charset="0"/>
                <a:cs typeface="Arial" panose="020B0604020202020204" pitchFamily="34" charset="0"/>
              </a:rPr>
              <a:t>: - </a:t>
            </a:r>
          </a:p>
          <a:p>
            <a:pPr marL="457200">
              <a:lnSpc>
                <a:spcPct val="150000"/>
              </a:lnSpc>
              <a:buNone/>
            </a:pPr>
            <a:r>
              <a:rPr lang="en-IN" sz="1600" kern="100" dirty="0">
                <a:effectLst/>
                <a:latin typeface="Arial" panose="020B0604020202020204" pitchFamily="34" charset="0"/>
                <a:ea typeface="Calibri" panose="020F0502020204030204" pitchFamily="34" charset="0"/>
                <a:cs typeface="Arial" panose="020B0604020202020204" pitchFamily="34" charset="0"/>
              </a:rPr>
              <a:t>Two outliers (~25 years). Median is lower than total experience.</a:t>
            </a:r>
          </a:p>
          <a:p>
            <a:pPr marL="342900" lvl="0" indent="-342900">
              <a:lnSpc>
                <a:spcPct val="150000"/>
              </a:lnSpc>
              <a:buFont typeface="Wingdings" panose="05000000000000000000" pitchFamily="2" charset="2"/>
              <a:buChar char=""/>
            </a:pPr>
            <a:r>
              <a:rPr lang="en-IN" sz="1600" kern="100" dirty="0">
                <a:effectLst/>
                <a:latin typeface="Arial" panose="020B0604020202020204" pitchFamily="34" charset="0"/>
                <a:ea typeface="Calibri" panose="020F0502020204030204" pitchFamily="34" charset="0"/>
                <a:cs typeface="Arial" panose="020B0604020202020204" pitchFamily="34" charset="0"/>
              </a:rPr>
              <a:t>Certifications: - 3 Outliers at 3,4,5. Most of the candidates have certificates between (0-1).</a:t>
            </a:r>
          </a:p>
          <a:p>
            <a:pPr marL="342900" lvl="0" indent="-342900">
              <a:lnSpc>
                <a:spcPct val="150000"/>
              </a:lnSpc>
              <a:buFont typeface="Wingdings" panose="05000000000000000000" pitchFamily="2" charset="2"/>
              <a:buChar char=""/>
            </a:pPr>
            <a:r>
              <a:rPr lang="en-IN" sz="1600" kern="100" dirty="0" err="1">
                <a:effectLst/>
                <a:latin typeface="Arial" panose="020B0604020202020204" pitchFamily="34" charset="0"/>
                <a:ea typeface="Calibri" panose="020F0502020204030204" pitchFamily="34" charset="0"/>
                <a:cs typeface="Arial" panose="020B0604020202020204" pitchFamily="34" charset="0"/>
              </a:rPr>
              <a:t>International_degree_any</a:t>
            </a:r>
            <a:r>
              <a:rPr lang="en-IN" sz="1600" kern="100" dirty="0">
                <a:effectLst/>
                <a:latin typeface="Arial" panose="020B0604020202020204" pitchFamily="34" charset="0"/>
                <a:ea typeface="Calibri" panose="020F0502020204030204" pitchFamily="34" charset="0"/>
                <a:cs typeface="Arial" panose="020B0604020202020204" pitchFamily="34" charset="0"/>
              </a:rPr>
              <a:t>: - Binary variable (0 or 1). Only one outlier means   very few candidates are having an international  degree.</a:t>
            </a:r>
          </a:p>
          <a:p>
            <a:pPr marL="342900" lvl="0" indent="-342900">
              <a:lnSpc>
                <a:spcPct val="150000"/>
              </a:lnSpc>
              <a:buFont typeface="Wingdings" panose="05000000000000000000" pitchFamily="2" charset="2"/>
              <a:buChar char=""/>
            </a:pPr>
            <a:r>
              <a:rPr lang="en-IN" sz="1600" kern="100" dirty="0">
                <a:effectLst/>
                <a:latin typeface="Arial" panose="020B0604020202020204" pitchFamily="34" charset="0"/>
                <a:ea typeface="Calibri" panose="020F0502020204030204" pitchFamily="34" charset="0"/>
                <a:cs typeface="Arial" panose="020B0604020202020204" pitchFamily="34" charset="0"/>
              </a:rPr>
              <a:t>Percentage of Hike: -</a:t>
            </a:r>
          </a:p>
          <a:p>
            <a:pPr marL="457200">
              <a:lnSpc>
                <a:spcPct val="150000"/>
              </a:lnSpc>
              <a:spcAft>
                <a:spcPts val="800"/>
              </a:spcAft>
            </a:pPr>
            <a:r>
              <a:rPr lang="en-IN" sz="1600" kern="100" dirty="0">
                <a:effectLst/>
                <a:latin typeface="Arial" panose="020B0604020202020204" pitchFamily="34" charset="0"/>
                <a:ea typeface="Calibri" panose="020F0502020204030204" pitchFamily="34" charset="0"/>
                <a:cs typeface="Arial" panose="020B0604020202020204" pitchFamily="34" charset="0"/>
              </a:rPr>
              <a:t>Median ~25% Right-Skewed and One outlier at 0.</a:t>
            </a:r>
            <a:r>
              <a:rPr lang="en-IN" sz="1600" kern="100" dirty="0">
                <a:latin typeface="Arial" panose="020B0604020202020204" pitchFamily="34" charset="0"/>
                <a:ea typeface="Calibri" panose="020F0502020204030204" pitchFamily="34" charset="0"/>
                <a:cs typeface="Arial" panose="020B0604020202020204" pitchFamily="34" charset="0"/>
              </a:rPr>
              <a:t>Other variables do not have any outliers.</a:t>
            </a:r>
            <a:endParaRPr lang="en-IN" sz="1600" kern="100" dirty="0">
              <a:effectLst/>
              <a:latin typeface="Arial" panose="020B0604020202020204" pitchFamily="34" charset="0"/>
              <a:ea typeface="Calibri" panose="020F0502020204030204" pitchFamily="34" charset="0"/>
              <a:cs typeface="Arial" panose="020B0604020202020204" pitchFamily="34" charset="0"/>
            </a:endParaRPr>
          </a:p>
          <a:p>
            <a:pPr marL="25400" indent="0">
              <a:buNone/>
            </a:pPr>
            <a:endParaRPr lang="en-IN" sz="1800" dirty="0">
              <a:latin typeface="Arial" panose="020B0604020202020204" pitchFamily="34" charset="0"/>
              <a:cs typeface="Arial" panose="020B0604020202020204" pitchFamily="34" charset="0"/>
            </a:endParaRPr>
          </a:p>
        </p:txBody>
      </p:sp>
      <p:pic>
        <p:nvPicPr>
          <p:cNvPr id="4098" name="Picture 2">
            <a:extLst>
              <a:ext uri="{FF2B5EF4-FFF2-40B4-BE49-F238E27FC236}">
                <a16:creationId xmlns:a16="http://schemas.microsoft.com/office/drawing/2014/main" id="{B3DA7470-0847-981A-CC92-EEF2F27A4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1379" y="252403"/>
            <a:ext cx="6154557" cy="632139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6558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F0DECE-CDC6-3DA5-EB71-15661E14C100}"/>
              </a:ext>
            </a:extLst>
          </p:cNvPr>
          <p:cNvSpPr txBox="1"/>
          <p:nvPr/>
        </p:nvSpPr>
        <p:spPr>
          <a:xfrm>
            <a:off x="213359" y="425601"/>
            <a:ext cx="5360081" cy="6079678"/>
          </a:xfrm>
          <a:prstGeom prst="rect">
            <a:avLst/>
          </a:prstGeom>
          <a:noFill/>
        </p:spPr>
        <p:txBody>
          <a:bodyPr wrap="square">
            <a:spAutoFit/>
          </a:bodyPr>
          <a:lstStyle/>
          <a:p>
            <a:pPr marL="25400">
              <a:lnSpc>
                <a:spcPct val="107000"/>
              </a:lnSpc>
            </a:pPr>
            <a:r>
              <a:rPr lang="en-IN" sz="2000" b="1" dirty="0">
                <a:solidFill>
                  <a:srgbClr val="0070C0"/>
                </a:solidFill>
                <a:latin typeface="Arial" panose="020B0604020202020204" pitchFamily="34" charset="0"/>
                <a:cs typeface="Arial" panose="020B0604020202020204" pitchFamily="34" charset="0"/>
              </a:rPr>
              <a:t>Clusters with Elbow Method: - </a:t>
            </a:r>
          </a:p>
          <a:p>
            <a:pPr marL="25400">
              <a:lnSpc>
                <a:spcPct val="107000"/>
              </a:lnSpc>
            </a:pPr>
            <a:r>
              <a:rPr lang="en-IN" b="1" dirty="0">
                <a:solidFill>
                  <a:srgbClr val="00B050"/>
                </a:solidFill>
              </a:rPr>
              <a:t>Elbow Method: -</a:t>
            </a:r>
          </a:p>
          <a:p>
            <a:pPr marL="25400">
              <a:lnSpc>
                <a:spcPct val="107000"/>
              </a:lnSpc>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It is called K-Means which has created clusters by applying Elbow method. </a:t>
            </a:r>
          </a:p>
          <a:p>
            <a:pPr marL="311150" indent="-285750">
              <a:lnSpc>
                <a:spcPct val="107000"/>
              </a:lnSpc>
              <a:buFont typeface="Wingdings" panose="05000000000000000000" pitchFamily="2" charset="2"/>
              <a:buChar char="Ø"/>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X-Axis: Number of Clusters/groups (K)</a:t>
            </a:r>
          </a:p>
          <a:p>
            <a:pPr marL="311150" indent="-28575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Y-Axis: Expected CTC</a:t>
            </a:r>
          </a:p>
          <a:p>
            <a:pPr marL="311150" indent="-285750">
              <a:lnSpc>
                <a:spcPct val="107000"/>
              </a:lnSpc>
              <a:buFont typeface="Wingdings" panose="05000000000000000000" pitchFamily="2" charset="2"/>
              <a:buChar char="Ø"/>
            </a:pPr>
            <a:r>
              <a:rPr lang="en-US" kern="100" dirty="0">
                <a:latin typeface="Calibri" panose="020F0502020204030204" pitchFamily="34" charset="0"/>
                <a:ea typeface="Calibri" panose="020F0502020204030204" pitchFamily="34" charset="0"/>
                <a:cs typeface="Times New Roman" panose="02020603050405020304" pitchFamily="18" charset="0"/>
              </a:rPr>
              <a:t>Optimal number of clusters (K) is likely 3 or 4 in elbow.</a:t>
            </a:r>
          </a:p>
          <a:p>
            <a:pPr marL="311150" indent="-285750">
              <a:lnSpc>
                <a:spcPct val="107000"/>
              </a:lnSpc>
              <a:buFont typeface="Wingdings" panose="05000000000000000000" pitchFamily="2" charset="2"/>
              <a:buChar char="Ø"/>
            </a:pPr>
            <a:r>
              <a:rPr lang="en-US" kern="100" dirty="0">
                <a:latin typeface="Calibri" panose="020F0502020204030204" pitchFamily="34" charset="0"/>
                <a:ea typeface="Calibri" panose="020F0502020204030204" pitchFamily="34" charset="0"/>
                <a:cs typeface="Times New Roman" panose="02020603050405020304" pitchFamily="18" charset="0"/>
              </a:rPr>
              <a:t>This point where you get the best balance between model complexity and performance.</a:t>
            </a: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25400">
              <a:lnSpc>
                <a:spcPct val="107000"/>
              </a:lnSpc>
            </a:pPr>
            <a:r>
              <a:rPr lang="en-IN" b="1" dirty="0">
                <a:solidFill>
                  <a:srgbClr val="00B050"/>
                </a:solidFill>
              </a:rPr>
              <a:t>Average Expected CTC by Clusters: -</a:t>
            </a:r>
          </a:p>
          <a:p>
            <a:pPr marL="311150" indent="-285750">
              <a:lnSpc>
                <a:spcPct val="107000"/>
              </a:lnSpc>
              <a:buFont typeface="Wingdings" panose="05000000000000000000" pitchFamily="2" charset="2"/>
              <a:buChar char="Ø"/>
            </a:pPr>
            <a:r>
              <a:rPr lang="en-IN" kern="100" dirty="0">
                <a:latin typeface="Calibri" panose="020F0502020204030204" pitchFamily="34" charset="0"/>
                <a:ea typeface="Calibri" panose="020F0502020204030204" pitchFamily="34" charset="0"/>
                <a:cs typeface="Times New Roman" panose="02020603050405020304" pitchFamily="18" charset="0"/>
              </a:rPr>
              <a:t>Created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3 clusters </a:t>
            </a:r>
            <a:r>
              <a:rPr lang="en-IN" kern="100" dirty="0">
                <a:latin typeface="Calibri" panose="020F0502020204030204" pitchFamily="34" charset="0"/>
                <a:ea typeface="Calibri" panose="020F0502020204030204" pitchFamily="34" charset="0"/>
                <a:cs typeface="Times New Roman" panose="02020603050405020304" pitchFamily="18" charset="0"/>
              </a:rPr>
              <a:t>by the average of expected salary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which </a:t>
            </a:r>
            <a:r>
              <a:rPr lang="en-IN" kern="100" dirty="0">
                <a:latin typeface="Calibri" panose="020F0502020204030204" pitchFamily="34" charset="0"/>
                <a:ea typeface="Calibri" panose="020F0502020204030204" pitchFamily="34" charset="0"/>
                <a:cs typeface="Times New Roman" panose="02020603050405020304" pitchFamily="18" charset="0"/>
              </a:rPr>
              <a:t>is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reflecting in bar plot.</a:t>
            </a:r>
          </a:p>
          <a:p>
            <a:pPr marL="311150" indent="-28575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Cluster 0 group has highest salary expectations.</a:t>
            </a:r>
          </a:p>
          <a:p>
            <a:pPr marL="311150" indent="-285750">
              <a:lnSpc>
                <a:spcPct val="107000"/>
              </a:lnSpc>
              <a:buFont typeface="Wingdings" panose="05000000000000000000" pitchFamily="2" charset="2"/>
              <a:buChar char="Ø"/>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Cluster 1 candidates have the lower expectations of the salary.</a:t>
            </a:r>
          </a:p>
          <a:p>
            <a:pPr marL="311150" indent="-285750">
              <a:lnSpc>
                <a:spcPct val="107000"/>
              </a:lnSpc>
              <a:buFont typeface="Wingdings" panose="05000000000000000000" pitchFamily="2" charset="2"/>
              <a:buChar char="Ø"/>
            </a:pPr>
            <a:r>
              <a:rPr lang="en-IN" kern="100" dirty="0">
                <a:latin typeface="Calibri" panose="020F0502020204030204" pitchFamily="34" charset="0"/>
                <a:ea typeface="Calibri" panose="020F0502020204030204" pitchFamily="34" charset="0"/>
                <a:cs typeface="Times New Roman" panose="02020603050405020304" pitchFamily="18" charset="0"/>
              </a:rPr>
              <a:t>Cluster 2 represents average hope for the expected </a:t>
            </a:r>
            <a:r>
              <a:rPr lang="en-IN" kern="100" dirty="0" err="1">
                <a:latin typeface="Calibri" panose="020F0502020204030204" pitchFamily="34" charset="0"/>
                <a:ea typeface="Calibri" panose="020F0502020204030204" pitchFamily="34" charset="0"/>
                <a:cs typeface="Times New Roman" panose="02020603050405020304" pitchFamily="18" charset="0"/>
              </a:rPr>
              <a:t>ctc</a:t>
            </a:r>
            <a:r>
              <a:rPr lang="en-IN" kern="100" dirty="0">
                <a:latin typeface="Calibri" panose="020F0502020204030204" pitchFamily="34" charset="0"/>
                <a:ea typeface="Calibri" panose="020F0502020204030204" pitchFamily="34" charset="0"/>
                <a:cs typeface="Times New Roman" panose="02020603050405020304" pitchFamily="18" charset="0"/>
              </a:rPr>
              <a: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11150" indent="-285750">
              <a:buFont typeface="Wingdings" panose="05000000000000000000" pitchFamily="2" charset="2"/>
              <a:buChar char="Ø"/>
            </a:pPr>
            <a:r>
              <a:rPr lang="en-IN" sz="1800" dirty="0"/>
              <a:t>Hence, </a:t>
            </a:r>
            <a:r>
              <a:rPr lang="en-US" dirty="0"/>
              <a:t>This </a:t>
            </a:r>
            <a:r>
              <a:rPr lang="en-US" dirty="0" err="1"/>
              <a:t>clusterings</a:t>
            </a:r>
            <a:r>
              <a:rPr lang="en-US" dirty="0"/>
              <a:t> can help HR or recruitment teams.</a:t>
            </a:r>
            <a:endParaRPr lang="en-IN" sz="1800" dirty="0"/>
          </a:p>
        </p:txBody>
      </p:sp>
      <p:pic>
        <p:nvPicPr>
          <p:cNvPr id="5124" name="Picture 4">
            <a:extLst>
              <a:ext uri="{FF2B5EF4-FFF2-40B4-BE49-F238E27FC236}">
                <a16:creationId xmlns:a16="http://schemas.microsoft.com/office/drawing/2014/main" id="{CBDC8D70-5538-011F-E080-BCC33AE44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3441" y="3032805"/>
            <a:ext cx="5336226" cy="29171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0426D60E-C87B-7389-FA73-AF4E04A47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3440" y="194072"/>
            <a:ext cx="5269964" cy="272658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33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389211" y="265457"/>
            <a:ext cx="4852090" cy="461665"/>
          </a:xfrm>
          <a:prstGeom prst="rect">
            <a:avLst/>
          </a:prstGeom>
        </p:spPr>
        <p:txBody>
          <a:bodyPr wrap="square" anchor="t">
            <a:spAutoFit/>
          </a:bodyPr>
          <a:lstStyle/>
          <a:p>
            <a:r>
              <a:rPr lang="en-US" sz="2400" b="1" dirty="0">
                <a:solidFill>
                  <a:srgbClr val="0070C0"/>
                </a:solidFill>
                <a:latin typeface="Arial" panose="020B0604020202020204" pitchFamily="34" charset="0"/>
                <a:cs typeface="Arial" panose="020B0604020202020204" pitchFamily="34" charset="0"/>
              </a:rPr>
              <a:t>Modelling Approach Used: -</a:t>
            </a:r>
          </a:p>
        </p:txBody>
      </p:sp>
      <p:sp>
        <p:nvSpPr>
          <p:cNvPr id="7" name="TextBox 6">
            <a:extLst>
              <a:ext uri="{FF2B5EF4-FFF2-40B4-BE49-F238E27FC236}">
                <a16:creationId xmlns:a16="http://schemas.microsoft.com/office/drawing/2014/main" id="{A84B8933-F44C-374A-B677-D79AD8184284}"/>
              </a:ext>
            </a:extLst>
          </p:cNvPr>
          <p:cNvSpPr txBox="1"/>
          <p:nvPr/>
        </p:nvSpPr>
        <p:spPr>
          <a:xfrm>
            <a:off x="263525" y="727122"/>
            <a:ext cx="10586906" cy="3262432"/>
          </a:xfrm>
          <a:prstGeom prst="rect">
            <a:avLst/>
          </a:prstGeom>
          <a:noFill/>
        </p:spPr>
        <p:txBody>
          <a:bodyPr wrap="square" rtlCol="0">
            <a:spAutoFit/>
          </a:bodyPr>
          <a:lstStyle/>
          <a:p>
            <a:r>
              <a:rPr lang="en-IN" sz="1600" dirty="0">
                <a:latin typeface="Arial" panose="020B0604020202020204" pitchFamily="34" charset="0"/>
                <a:cs typeface="Arial" panose="020B0604020202020204" pitchFamily="34" charset="0"/>
              </a:rPr>
              <a:t>The Models used to develop a predictive model for more accuracy and generalization. Models were evaluated by using key performance metrics like R-square, Adjusted R-square, MSE, RMSE, MAE, MAPE. These approaches helps to prepare the strategies for salary predictions of the candidates according to their performance.</a:t>
            </a:r>
          </a:p>
          <a:p>
            <a:r>
              <a:rPr lang="en-IN" sz="2000" b="1" dirty="0">
                <a:solidFill>
                  <a:srgbClr val="00B050"/>
                </a:solidFill>
              </a:rPr>
              <a:t>Linear Regression: - </a:t>
            </a:r>
          </a:p>
          <a:p>
            <a:r>
              <a:rPr lang="en-IN" sz="1400" dirty="0">
                <a:latin typeface="Arial" panose="020B0604020202020204" pitchFamily="34" charset="0"/>
                <a:cs typeface="Arial" panose="020B0604020202020204" pitchFamily="34" charset="0"/>
              </a:rPr>
              <a:t>Linear regression performance values for training and test set before Normalization.</a:t>
            </a: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After Normalization: -</a:t>
            </a:r>
            <a:r>
              <a:rPr lang="en-IN" sz="1400" dirty="0">
                <a:latin typeface="Arial" panose="020B0604020202020204" pitchFamily="34" charset="0"/>
                <a:cs typeface="Arial" panose="020B0604020202020204" pitchFamily="34" charset="0"/>
              </a:rPr>
              <a:t> Since It is a normal distribution good for doing models even though </a:t>
            </a:r>
          </a:p>
          <a:p>
            <a:r>
              <a:rPr lang="en-IN" sz="1400" dirty="0">
                <a:latin typeface="Arial" panose="020B0604020202020204" pitchFamily="34" charset="0"/>
                <a:cs typeface="Arial" panose="020B0604020202020204" pitchFamily="34" charset="0"/>
              </a:rPr>
              <a:t>Some skewness and B</a:t>
            </a:r>
            <a:r>
              <a:rPr lang="en-US" sz="1400" dirty="0">
                <a:latin typeface="Arial" panose="020B0604020202020204" pitchFamily="34" charset="0"/>
                <a:cs typeface="Arial" panose="020B0604020202020204" pitchFamily="34" charset="0"/>
              </a:rPr>
              <a:t>ell-shaped curve. The testing accuracy is 98.6% and MAPE 6.21.</a:t>
            </a: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BA2BBB34-2883-154B-B588-CD7BD235E055}"/>
              </a:ext>
            </a:extLst>
          </p:cNvPr>
          <p:cNvSpPr/>
          <p:nvPr/>
        </p:nvSpPr>
        <p:spPr>
          <a:xfrm>
            <a:off x="1287519" y="5148306"/>
            <a:ext cx="1019742" cy="10197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3" name="Picture 2">
            <a:extLst>
              <a:ext uri="{FF2B5EF4-FFF2-40B4-BE49-F238E27FC236}">
                <a16:creationId xmlns:a16="http://schemas.microsoft.com/office/drawing/2014/main" id="{D126D7F3-24EA-54BA-AC9F-5196C8D1CB9A}"/>
              </a:ext>
            </a:extLst>
          </p:cNvPr>
          <p:cNvPicPr>
            <a:picLocks noChangeAspect="1"/>
          </p:cNvPicPr>
          <p:nvPr/>
        </p:nvPicPr>
        <p:blipFill>
          <a:blip r:embed="rId2"/>
          <a:stretch>
            <a:fillRect/>
          </a:stretch>
        </p:blipFill>
        <p:spPr>
          <a:xfrm>
            <a:off x="344801" y="3674541"/>
            <a:ext cx="5524322" cy="814556"/>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A0B8E20-B7CD-91B6-5130-A2F20F2AF686}"/>
              </a:ext>
            </a:extLst>
          </p:cNvPr>
          <p:cNvPicPr>
            <a:picLocks noChangeAspect="1"/>
          </p:cNvPicPr>
          <p:nvPr/>
        </p:nvPicPr>
        <p:blipFill>
          <a:blip r:embed="rId3"/>
          <a:stretch>
            <a:fillRect/>
          </a:stretch>
        </p:blipFill>
        <p:spPr>
          <a:xfrm>
            <a:off x="444777" y="4569317"/>
            <a:ext cx="5166251" cy="851558"/>
          </a:xfrm>
          <a:prstGeom prst="rect">
            <a:avLst/>
          </a:prstGeom>
          <a:ln>
            <a:noFill/>
          </a:ln>
          <a:effectLst>
            <a:outerShdw blurRad="292100" dist="139700" dir="2700000" algn="tl" rotWithShape="0">
              <a:srgbClr val="333333">
                <a:alpha val="65000"/>
              </a:srgbClr>
            </a:outerShdw>
          </a:effectLst>
        </p:spPr>
      </p:pic>
      <p:pic>
        <p:nvPicPr>
          <p:cNvPr id="6146" name="Picture 2">
            <a:extLst>
              <a:ext uri="{FF2B5EF4-FFF2-40B4-BE49-F238E27FC236}">
                <a16:creationId xmlns:a16="http://schemas.microsoft.com/office/drawing/2014/main" id="{FF9078C2-F5EC-1201-163A-2BAFFD61A2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32449" y="1584071"/>
            <a:ext cx="3480045" cy="39483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7E23EBE-DE57-03D3-0B7E-6CAAF64E2927}"/>
              </a:ext>
            </a:extLst>
          </p:cNvPr>
          <p:cNvPicPr>
            <a:picLocks noChangeAspect="1"/>
          </p:cNvPicPr>
          <p:nvPr/>
        </p:nvPicPr>
        <p:blipFill>
          <a:blip r:embed="rId5"/>
          <a:stretch>
            <a:fillRect/>
          </a:stretch>
        </p:blipFill>
        <p:spPr>
          <a:xfrm>
            <a:off x="4052404" y="2050167"/>
            <a:ext cx="3480045" cy="746825"/>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5B6848EA-93DA-5D33-1838-0ABAB2DC0115}"/>
              </a:ext>
            </a:extLst>
          </p:cNvPr>
          <p:cNvPicPr>
            <a:picLocks noChangeAspect="1"/>
          </p:cNvPicPr>
          <p:nvPr/>
        </p:nvPicPr>
        <p:blipFill>
          <a:blip r:embed="rId6"/>
          <a:stretch>
            <a:fillRect/>
          </a:stretch>
        </p:blipFill>
        <p:spPr>
          <a:xfrm>
            <a:off x="317575" y="2050167"/>
            <a:ext cx="3680779" cy="723963"/>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899577AD-86A8-90ED-2D1C-2B4AAF2F528F}"/>
              </a:ext>
            </a:extLst>
          </p:cNvPr>
          <p:cNvSpPr txBox="1"/>
          <p:nvPr/>
        </p:nvSpPr>
        <p:spPr>
          <a:xfrm>
            <a:off x="317575" y="5532438"/>
            <a:ext cx="10586906" cy="1107996"/>
          </a:xfrm>
          <a:prstGeom prst="rect">
            <a:avLst/>
          </a:prstGeom>
          <a:noFill/>
        </p:spPr>
        <p:txBody>
          <a:bodyPr wrap="square" rtlCol="0">
            <a:spAutoFit/>
          </a:bodyPr>
          <a:lstStyle/>
          <a:p>
            <a:r>
              <a:rPr lang="en-IN" b="1" dirty="0">
                <a:solidFill>
                  <a:srgbClr val="00B050"/>
                </a:solidFill>
                <a:latin typeface="Arial" panose="020B0604020202020204" pitchFamily="34" charset="0"/>
                <a:cs typeface="Arial" panose="020B0604020202020204" pitchFamily="34" charset="0"/>
              </a:rPr>
              <a:t>Models &amp; Models Tuned Applied: -</a:t>
            </a:r>
            <a:r>
              <a:rPr lang="en-IN" dirty="0">
                <a:latin typeface="Arial" panose="020B0604020202020204" pitchFamily="34" charset="0"/>
                <a:cs typeface="Arial" panose="020B0604020202020204" pitchFamily="34" charset="0"/>
              </a:rPr>
              <a:t>  </a:t>
            </a:r>
          </a:p>
          <a:p>
            <a:r>
              <a:rPr lang="en-IN" sz="1600" dirty="0">
                <a:latin typeface="Arial" panose="020B0604020202020204" pitchFamily="34" charset="0"/>
                <a:cs typeface="Arial" panose="020B0604020202020204" pitchFamily="34" charset="0"/>
              </a:rPr>
              <a:t>Different regression Models applied for training set and test set for the accuracy. Models tuned also performed for evaluation of their performance of each model of both training set &amp; test set. However, the consolidated tables added to compare/analyse </a:t>
            </a:r>
            <a:r>
              <a:rPr lang="en-IN" sz="1600">
                <a:latin typeface="Arial" panose="020B0604020202020204" pitchFamily="34" charset="0"/>
                <a:cs typeface="Arial" panose="020B0604020202020204" pitchFamily="34" charset="0"/>
              </a:rPr>
              <a:t>their performances.</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2695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C21F88-A1B0-0463-3856-59846E975D85}"/>
              </a:ext>
            </a:extLst>
          </p:cNvPr>
          <p:cNvPicPr>
            <a:picLocks noChangeAspect="1"/>
          </p:cNvPicPr>
          <p:nvPr/>
        </p:nvPicPr>
        <p:blipFill>
          <a:blip r:embed="rId2"/>
          <a:stretch>
            <a:fillRect/>
          </a:stretch>
        </p:blipFill>
        <p:spPr>
          <a:xfrm>
            <a:off x="263524" y="499637"/>
            <a:ext cx="10759609" cy="2133785"/>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C9DBE102-A5D0-52B8-3E78-BCDA0CFBFC4D}"/>
              </a:ext>
            </a:extLst>
          </p:cNvPr>
          <p:cNvPicPr>
            <a:picLocks noChangeAspect="1"/>
          </p:cNvPicPr>
          <p:nvPr/>
        </p:nvPicPr>
        <p:blipFill>
          <a:blip r:embed="rId3"/>
          <a:stretch>
            <a:fillRect/>
          </a:stretch>
        </p:blipFill>
        <p:spPr>
          <a:xfrm>
            <a:off x="263525" y="2719686"/>
            <a:ext cx="10759609" cy="2133785"/>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22ADFFBF-3053-556E-BD5C-00FADA01FD0E}"/>
              </a:ext>
            </a:extLst>
          </p:cNvPr>
          <p:cNvSpPr/>
          <p:nvPr/>
        </p:nvSpPr>
        <p:spPr>
          <a:xfrm>
            <a:off x="263525" y="4835175"/>
            <a:ext cx="4765738" cy="461665"/>
          </a:xfrm>
          <a:prstGeom prst="rect">
            <a:avLst/>
          </a:prstGeom>
        </p:spPr>
        <p:txBody>
          <a:bodyPr wrap="square" anchor="t">
            <a:spAutoFit/>
          </a:bodyPr>
          <a:lstStyle/>
          <a:p>
            <a:r>
              <a:rPr lang="en-US" sz="2000" b="1" dirty="0">
                <a:solidFill>
                  <a:srgbClr val="0070C0"/>
                </a:solidFill>
                <a:latin typeface="Arial" panose="020B0604020202020204" pitchFamily="34" charset="0"/>
                <a:cs typeface="Arial" panose="020B0604020202020204" pitchFamily="34" charset="0"/>
              </a:rPr>
              <a:t>Modelling Approach Used Why:</a:t>
            </a:r>
            <a:r>
              <a:rPr lang="en-US" sz="2400" b="1" dirty="0">
                <a:solidFill>
                  <a:srgbClr val="0070C0"/>
                </a:solidFill>
                <a:latin typeface="Arial" panose="020B0604020202020204" pitchFamily="34" charset="0"/>
                <a:cs typeface="Arial" panose="020B0604020202020204" pitchFamily="34" charset="0"/>
              </a:rPr>
              <a:t> -</a:t>
            </a:r>
          </a:p>
        </p:txBody>
      </p:sp>
      <p:sp>
        <p:nvSpPr>
          <p:cNvPr id="10" name="TextBox 9">
            <a:extLst>
              <a:ext uri="{FF2B5EF4-FFF2-40B4-BE49-F238E27FC236}">
                <a16:creationId xmlns:a16="http://schemas.microsoft.com/office/drawing/2014/main" id="{A88D8453-BBD8-3366-F1BE-BB9FB51DDF86}"/>
              </a:ext>
            </a:extLst>
          </p:cNvPr>
          <p:cNvSpPr txBox="1"/>
          <p:nvPr/>
        </p:nvSpPr>
        <p:spPr>
          <a:xfrm>
            <a:off x="263525" y="5250674"/>
            <a:ext cx="10586906" cy="1815882"/>
          </a:xfrm>
          <a:prstGeom prst="rect">
            <a:avLst/>
          </a:prstGeom>
          <a:noFill/>
        </p:spPr>
        <p:txBody>
          <a:bodyPr wrap="square" rtlCol="0">
            <a:spAutoFit/>
          </a:bodyPr>
          <a:lstStyle/>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Tree-based models like Decision Tree, Random Forest and Bagging to capture the ability of non-linear relationships and interactions other than data preprocessing.</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Boosting models are </a:t>
            </a:r>
            <a:r>
              <a:rPr lang="en-US" sz="1400" dirty="0">
                <a:latin typeface="Arial" panose="020B0604020202020204" pitchFamily="34" charset="0"/>
                <a:cs typeface="Arial" panose="020B0604020202020204" pitchFamily="34" charset="0"/>
              </a:rPr>
              <a:t>Gradient Boosting, AdaBoost, and </a:t>
            </a:r>
            <a:r>
              <a:rPr lang="en-US" sz="1400" dirty="0" err="1">
                <a:latin typeface="Arial" panose="020B0604020202020204" pitchFamily="34" charset="0"/>
                <a:cs typeface="Arial" panose="020B0604020202020204" pitchFamily="34" charset="0"/>
              </a:rPr>
              <a:t>XGBoost</a:t>
            </a:r>
            <a:r>
              <a:rPr lang="en-US" sz="1400" dirty="0">
                <a:latin typeface="Arial" panose="020B0604020202020204" pitchFamily="34" charset="0"/>
                <a:cs typeface="Arial" panose="020B0604020202020204" pitchFamily="34" charset="0"/>
              </a:rPr>
              <a:t> were tested for structured/tabular data prediction.</a:t>
            </a:r>
            <a:endParaRPr lang="en-IN"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Stacking Regressor is used to combine multiple models to leverage their predictive performance.</a:t>
            </a:r>
          </a:p>
          <a:p>
            <a:pPr marL="285750" indent="-285750">
              <a:buFont typeface="Wingdings" panose="05000000000000000000" pitchFamily="2" charset="2"/>
              <a:buChar char="Ø"/>
            </a:pPr>
            <a:r>
              <a:rPr lang="en-IN" sz="1400" dirty="0">
                <a:latin typeface="Arial" panose="020B0604020202020204" pitchFamily="34" charset="0"/>
                <a:cs typeface="Arial" panose="020B0604020202020204" pitchFamily="34" charset="0"/>
              </a:rPr>
              <a:t>The Models used to develop a predictive model for more accuracy and generalization. Models were evaluated by using key performance metrics</a:t>
            </a:r>
          </a:p>
          <a:p>
            <a:pPr marL="285750" indent="-285750">
              <a:buFont typeface="Wingdings" panose="05000000000000000000" pitchFamily="2" charset="2"/>
              <a:buChar char="Ø"/>
            </a:pPr>
            <a:endParaRPr lang="en-IN" sz="1400" dirty="0">
              <a:latin typeface="Arial" panose="020B0604020202020204" pitchFamily="34" charset="0"/>
              <a:cs typeface="Arial" panose="020B0604020202020204" pitchFamily="34" charset="0"/>
            </a:endParaRPr>
          </a:p>
          <a:p>
            <a:endParaRPr lang="en-IN" sz="1400" dirty="0"/>
          </a:p>
        </p:txBody>
      </p:sp>
    </p:spTree>
    <p:extLst>
      <p:ext uri="{BB962C8B-B14F-4D97-AF65-F5344CB8AC3E}">
        <p14:creationId xmlns:p14="http://schemas.microsoft.com/office/powerpoint/2010/main" val="969500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640839" y="667269"/>
            <a:ext cx="10676857" cy="707886"/>
          </a:xfrm>
          <a:prstGeom prst="rect">
            <a:avLst/>
          </a:prstGeom>
        </p:spPr>
        <p:txBody>
          <a:bodyPr wrap="square" anchor="t">
            <a:spAutoFit/>
          </a:bodyPr>
          <a:lstStyle/>
          <a:p>
            <a:pPr algn="ctr"/>
            <a:r>
              <a:rPr lang="en-US" sz="4000" b="1" dirty="0">
                <a:solidFill>
                  <a:srgbClr val="0070C0"/>
                </a:solidFill>
                <a:latin typeface="Arial" panose="020B0604020202020204" pitchFamily="34" charset="0"/>
                <a:cs typeface="Arial" panose="020B0604020202020204" pitchFamily="34" charset="0"/>
              </a:rPr>
              <a:t>Insights from Analysis</a:t>
            </a:r>
          </a:p>
        </p:txBody>
      </p:sp>
      <p:sp>
        <p:nvSpPr>
          <p:cNvPr id="7" name="TextBox 6">
            <a:extLst>
              <a:ext uri="{FF2B5EF4-FFF2-40B4-BE49-F238E27FC236}">
                <a16:creationId xmlns:a16="http://schemas.microsoft.com/office/drawing/2014/main" id="{A84B8933-F44C-374A-B677-D79AD8184284}"/>
              </a:ext>
            </a:extLst>
          </p:cNvPr>
          <p:cNvSpPr txBox="1"/>
          <p:nvPr/>
        </p:nvSpPr>
        <p:spPr>
          <a:xfrm>
            <a:off x="276462" y="1773986"/>
            <a:ext cx="10696338" cy="50167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1600" dirty="0" err="1"/>
              <a:t>xgboost</a:t>
            </a:r>
            <a:r>
              <a:rPr lang="en-IN" sz="1600" dirty="0"/>
              <a:t> is best model tuned performance with high accuracy(R-square - 99%), low error(MAPE - 0.895) and achieved RMSE ~137,582, MAE~104,421, R-square ~0.986 (98.6%) this model achieved 98.6% of variance in the target variable. Hence, Predictive metrics are strong.</a:t>
            </a:r>
          </a:p>
          <a:p>
            <a:pPr marL="285750" indent="-285750">
              <a:lnSpc>
                <a:spcPct val="150000"/>
              </a:lnSpc>
              <a:buFont typeface="Wingdings" panose="05000000000000000000" pitchFamily="2" charset="2"/>
              <a:buChar char="Ø"/>
            </a:pPr>
            <a:r>
              <a:rPr lang="en-IN" sz="1600" dirty="0"/>
              <a:t>The Tuned </a:t>
            </a:r>
            <a:r>
              <a:rPr lang="en-IN" sz="1600" dirty="0" err="1"/>
              <a:t>xgboost</a:t>
            </a:r>
            <a:r>
              <a:rPr lang="en-IN" sz="1600" dirty="0"/>
              <a:t> training and test metrics results are close so it has a good generalization and minimal overfitting. This is important in the real world to deploy the unseen data.</a:t>
            </a:r>
          </a:p>
          <a:p>
            <a:pPr marL="285750" indent="-285750">
              <a:lnSpc>
                <a:spcPct val="150000"/>
              </a:lnSpc>
              <a:buFont typeface="Wingdings" panose="05000000000000000000" pitchFamily="2" charset="2"/>
              <a:buChar char="Ø"/>
            </a:pPr>
            <a:r>
              <a:rPr lang="en-IN" sz="1600" dirty="0"/>
              <a:t>The tuned models of training and test set are performing well like </a:t>
            </a:r>
            <a:r>
              <a:rPr lang="en-US" sz="1600" dirty="0"/>
              <a:t>Random Forest, Gradient Boost, and </a:t>
            </a:r>
            <a:r>
              <a:rPr lang="en-US" sz="1600" dirty="0" err="1"/>
              <a:t>XGBoost</a:t>
            </a:r>
            <a:r>
              <a:rPr lang="en-US" sz="1600" dirty="0"/>
              <a:t>. It represents robustness and enable these model’s suitable candidates for production use.</a:t>
            </a:r>
          </a:p>
          <a:p>
            <a:pPr marL="285750" indent="-285750">
              <a:lnSpc>
                <a:spcPct val="150000"/>
              </a:lnSpc>
              <a:buFont typeface="Wingdings" panose="05000000000000000000" pitchFamily="2" charset="2"/>
              <a:buChar char="Ø"/>
            </a:pPr>
            <a:r>
              <a:rPr lang="en-US" sz="1600" dirty="0"/>
              <a:t>Only few candidates are with any international degree.</a:t>
            </a:r>
          </a:p>
          <a:p>
            <a:pPr marL="285750" indent="-285750">
              <a:lnSpc>
                <a:spcPct val="150000"/>
              </a:lnSpc>
              <a:buFont typeface="Wingdings" panose="05000000000000000000" pitchFamily="2" charset="2"/>
              <a:buChar char="Ø"/>
            </a:pPr>
            <a:r>
              <a:rPr lang="en-US" sz="1600" dirty="0"/>
              <a:t>Only the candidates with 6-12 months have more expectations. Next the experienced candidates with 1 - 3.5 years are looking for more </a:t>
            </a:r>
            <a:r>
              <a:rPr lang="en-US" sz="1600" dirty="0" err="1"/>
              <a:t>expected_ctc</a:t>
            </a:r>
            <a:r>
              <a:rPr lang="en-US" sz="1600" dirty="0"/>
              <a:t>.</a:t>
            </a:r>
          </a:p>
          <a:p>
            <a:pPr marL="285750" indent="-285750">
              <a:lnSpc>
                <a:spcPct val="150000"/>
              </a:lnSpc>
              <a:buFont typeface="Wingdings" panose="05000000000000000000" pitchFamily="2" charset="2"/>
              <a:buChar char="Ø"/>
            </a:pPr>
            <a:r>
              <a:rPr lang="en-US" sz="1600" dirty="0"/>
              <a:t>Total relevant field experience has two outliers and around 25 years generally they have high expectations.</a:t>
            </a:r>
          </a:p>
          <a:p>
            <a:pPr marL="285750" indent="-285750">
              <a:lnSpc>
                <a:spcPct val="150000"/>
              </a:lnSpc>
              <a:buFont typeface="Wingdings" panose="05000000000000000000" pitchFamily="2" charset="2"/>
              <a:buChar char="Ø"/>
            </a:pPr>
            <a:endParaRPr lang="en-IN" sz="1600" dirty="0"/>
          </a:p>
          <a:p>
            <a:endParaRPr lang="en-IN" sz="1600" dirty="0"/>
          </a:p>
          <a:p>
            <a:endParaRPr lang="en-IN" sz="1600" dirty="0"/>
          </a:p>
        </p:txBody>
      </p:sp>
    </p:spTree>
    <p:extLst>
      <p:ext uri="{BB962C8B-B14F-4D97-AF65-F5344CB8AC3E}">
        <p14:creationId xmlns:p14="http://schemas.microsoft.com/office/powerpoint/2010/main" val="207328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02C64F-B802-E343-B318-70D330A9A3FE}"/>
              </a:ext>
            </a:extLst>
          </p:cNvPr>
          <p:cNvSpPr/>
          <p:nvPr/>
        </p:nvSpPr>
        <p:spPr>
          <a:xfrm>
            <a:off x="3408571" y="917294"/>
            <a:ext cx="5374857" cy="707886"/>
          </a:xfrm>
          <a:prstGeom prst="rect">
            <a:avLst/>
          </a:prstGeom>
        </p:spPr>
        <p:txBody>
          <a:bodyPr wrap="square" anchor="t">
            <a:spAutoFit/>
          </a:bodyPr>
          <a:lstStyle/>
          <a:p>
            <a:r>
              <a:rPr lang="en-US" sz="4000" b="1" dirty="0">
                <a:solidFill>
                  <a:srgbClr val="0070C0"/>
                </a:solidFill>
                <a:latin typeface="Arial" panose="020B0604020202020204" pitchFamily="34" charset="0"/>
                <a:cs typeface="Arial" panose="020B0604020202020204" pitchFamily="34" charset="0"/>
              </a:rPr>
              <a:t>Recommendations</a:t>
            </a:r>
          </a:p>
        </p:txBody>
      </p:sp>
      <p:sp>
        <p:nvSpPr>
          <p:cNvPr id="7" name="TextBox 6">
            <a:extLst>
              <a:ext uri="{FF2B5EF4-FFF2-40B4-BE49-F238E27FC236}">
                <a16:creationId xmlns:a16="http://schemas.microsoft.com/office/drawing/2014/main" id="{A84B8933-F44C-374A-B677-D79AD8184284}"/>
              </a:ext>
            </a:extLst>
          </p:cNvPr>
          <p:cNvSpPr txBox="1"/>
          <p:nvPr/>
        </p:nvSpPr>
        <p:spPr>
          <a:xfrm>
            <a:off x="276462" y="1773986"/>
            <a:ext cx="10696338" cy="4185761"/>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1400" dirty="0" err="1">
                <a:latin typeface="Arial" panose="020B0604020202020204" pitchFamily="34" charset="0"/>
                <a:cs typeface="Arial" panose="020B0604020202020204" pitchFamily="34" charset="0"/>
              </a:rPr>
              <a:t>xgboost</a:t>
            </a:r>
            <a:r>
              <a:rPr lang="en-IN" sz="1400" dirty="0">
                <a:latin typeface="Arial" panose="020B0604020202020204" pitchFamily="34" charset="0"/>
                <a:cs typeface="Arial" panose="020B0604020202020204" pitchFamily="34" charset="0"/>
              </a:rPr>
              <a:t> is a balanced performance (</a:t>
            </a:r>
            <a:r>
              <a:rPr lang="en-US" sz="1400" dirty="0">
                <a:latin typeface="Arial" panose="020B0604020202020204" pitchFamily="34" charset="0"/>
                <a:cs typeface="Arial" panose="020B0604020202020204" pitchFamily="34" charset="0"/>
              </a:rPr>
              <a:t>low RMSE, high R², and low MAPE</a:t>
            </a:r>
            <a:r>
              <a:rPr lang="en-US" sz="1400" dirty="0"/>
              <a:t>)</a:t>
            </a:r>
            <a:r>
              <a:rPr lang="en-IN" sz="1400" dirty="0">
                <a:latin typeface="Arial" panose="020B0604020202020204" pitchFamily="34" charset="0"/>
                <a:cs typeface="Arial" panose="020B0604020202020204" pitchFamily="34" charset="0"/>
              </a:rPr>
              <a:t> so it should prefer to use this model for production.</a:t>
            </a:r>
          </a:p>
          <a:p>
            <a:pPr marL="2857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These key performance indicators has to track regularly so it is better to setup alert mechanism if the model mechanism drops significantly.</a:t>
            </a:r>
          </a:p>
          <a:p>
            <a:pPr marL="2857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It is good to retrain the new data either monthly or quarterly especially if there are seasonal patterns or any slowness in data.</a:t>
            </a:r>
          </a:p>
          <a:p>
            <a:pPr marL="2857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There are some outliers which means some candidates are having over expectations especially with 6- 1 months experience so HR Team need to focus to prepare strategies accordingly.</a:t>
            </a:r>
          </a:p>
          <a:p>
            <a:pPr marL="2857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There is a strong positive correlation between Current CTC &amp; Expected CTC so current salary of the candidates should be low and should be in Cluster 1.</a:t>
            </a:r>
          </a:p>
          <a:p>
            <a:pPr marL="285750" indent="-285750">
              <a:lnSpc>
                <a:spcPct val="150000"/>
              </a:lnSpc>
              <a:buFont typeface="Wingdings" panose="05000000000000000000" pitchFamily="2" charset="2"/>
              <a:buChar char="Ø"/>
            </a:pPr>
            <a:r>
              <a:rPr lang="en-IN" sz="1400" dirty="0">
                <a:latin typeface="Arial" panose="020B0604020202020204" pitchFamily="34" charset="0"/>
                <a:cs typeface="Arial" panose="020B0604020202020204" pitchFamily="34" charset="0"/>
              </a:rPr>
              <a:t>Consider the interaction of </a:t>
            </a:r>
            <a:r>
              <a:rPr lang="en-US" sz="1400" dirty="0">
                <a:latin typeface="Arial" panose="020B0604020202020204" pitchFamily="34" charset="0"/>
                <a:cs typeface="Arial" panose="020B0604020202020204" pitchFamily="34" charset="0"/>
              </a:rPr>
              <a:t>certifications/publications and expected CTC for modeling are useful prediction analysis of, hiring process, candidate expectations based on current salary.</a:t>
            </a:r>
          </a:p>
          <a:p>
            <a:pPr marL="285750" indent="-285750">
              <a:lnSpc>
                <a:spcPct val="150000"/>
              </a:lnSpc>
              <a:buFont typeface="Wingdings" panose="05000000000000000000" pitchFamily="2" charset="2"/>
              <a:buChar char="Ø"/>
            </a:pPr>
            <a:r>
              <a:rPr lang="en-US" sz="1400" dirty="0">
                <a:latin typeface="Arial" panose="020B0604020202020204" pitchFamily="34" charset="0"/>
                <a:cs typeface="Arial" panose="020B0604020202020204" pitchFamily="34" charset="0"/>
              </a:rPr>
              <a:t>Need use domain expertise depth to find the best candidates for production with low training which can help to control investment cost per head.</a:t>
            </a:r>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373415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7589</TotalTime>
  <Words>1485</Words>
  <Application>Microsoft Office PowerPoint</Application>
  <PresentationFormat>Widescreen</PresentationFormat>
  <Paragraphs>100</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P</dc:creator>
  <cp:lastModifiedBy>NSBABU A</cp:lastModifiedBy>
  <cp:revision>333</cp:revision>
  <dcterms:created xsi:type="dcterms:W3CDTF">2019-12-31T09:37:22Z</dcterms:created>
  <dcterms:modified xsi:type="dcterms:W3CDTF">2025-05-30T16:18:06Z</dcterms:modified>
</cp:coreProperties>
</file>